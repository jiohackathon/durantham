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Introduce Durantham as our answer to the DataQuest 3.0 brief. It brings the equipment service lifecycle into one operational platform. Source: DQBH.pdf, page 1; project source at C:\Users\mayuk\durantham.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brief describes fragmented request communication, difficulty matching people and resources, limited operational visibility, late conflict detection, and manual verification. Source: DQBH.pdf, pages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product as a centralized activity-management platform. The project models requests, machines, parts, technicians, work evidence and audit history. Source: DQBH.pdf, pages 1-3; backend/src/server.js and backend/src/db.js.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API enforces legal transitions: pending approval to approved or cancelled; approved to assigned, exception or cancelled; assigned to in progress, exception or cancelled; in progress to completed or exception; exception to assigned or cancelled. Source: backend/src/server.js.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backend filters active technician profiles by site, required skills and preferred issue specialty. It sorts by workload, then rating. Approval checks inventory and reduces available quantity while creating reservation rows. The current handler does not wrap these operations in an explicit transaction, so avoid claiming atomic concurrency safety. Source: backend/src/server.js and backend/src/domain.js.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Architecture as implemented: static JavaScript frontend, Node.js API, SQLite operational database, optional Supabase REST technician catalog. The brief proposes mobile, AI/ML, IoT, real-time communication, analytics, maps, blockchain and cloud as extensibility directions; the current repository does not implement them. Sources: DQBH.pdf page 1; frontend/server.js; backend/src/server.js; backend/src/db.js; backend/src/supabase.js.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role model, scrypt password hashing, signed eight-hour bearer tokens and route-level authorization. Work logs and audit events make changes reviewable. Source: backend/src/auth.js, backend/src/server.js, backend/src/db.js.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challenge example. Do not present this as a live seeded M-104 record unless the team has prepared that data in the running system. The README recommends seeding an admin and technicians, then creating machine/part data and a request. Sources: DQBH.pdf pages 1-3; backend/README.md.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an honest implementation status. The backend contains the main business workflows. The frontend is a visual prototype with static sample rows/metrics, a simulated request submit, and a fetch to the backend technician catalog. Next steps address gaps between the brief and repository. Sources: frontend/app.js; backend/src/server.js; DQBH.pdf pages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5C2EE5D-0C8E-4099-8F22-724545B9691C}"/>
              </a:ext>
            </a:extLst>
          </p:cNvPr>
          <p:cNvSpPr>
            <a:spLocks noGrp="1"/>
          </p:cNvSpPr>
          <p:nvPr/>
        </p:nvSpPr>
        <p:spPr>
          <a:xfrm>
            <a:off x="0" y="0"/>
            <a:ext cx="171450" cy="6858000"/>
          </a:xfrm>
          <a:prstGeom prst="rect">
            <a:avLst/>
          </a:prstGeom>
          <a:solidFill>
            <a:srgbClr val="16B8A6"/>
          </a:solidFill>
          <a:ln w="0">
            <a:noFill/>
            <a:prstDash val="solid"/>
          </a:ln>
        </p:spPr>
      </p:sp>
      <p:sp>
        <p:nvSpPr>
          <p:cNvPr id="2" name="Rectangle 1">
            <a:extLst>
              <a:ext uri="{FF2B5EF4-FFF2-40B4-BE49-F238E27FC236}">
                <a16:creationId xmlns:a16="http://schemas.microsoft.com/office/drawing/2014/main" id="{9374FFE4-B372-4362-A28D-361FF2BBD511}"/>
              </a:ext>
            </a:extLst>
          </p:cNvPr>
          <p:cNvSpPr>
            <a:spLocks noGrp="1"/>
          </p:cNvSpPr>
          <p:nvPr/>
        </p:nvSpPr>
        <p:spPr>
          <a:xfrm>
            <a:off x="723900" y="590550"/>
            <a:ext cx="6191250" cy="266700"/>
          </a:xfrm>
          <a:prstGeom prst="rect">
            <a:avLst/>
          </a:prstGeom>
          <a:noFill/>
          <a:ln w="0">
            <a:noFill/>
            <a:prstDash val="solid"/>
          </a:ln>
        </p:spPr>
        <p:txBody>
          <a:bodyPr anchor="ctr">
            <a:normAutofit fontScale="95833"/>
          </a:bodyPr>
          <a:lstStyle/>
          <a:p>
            <a:pPr algn="l">
              <a:lnSpc>
                <a:spcPct val="100000"/>
              </a:lnSpc>
              <a:buNone/>
              <a:defRPr sz="1200" b="1">
                <a:solidFill>
                  <a:srgbClr val="16B8A6"/>
                </a:solidFill>
                <a:latin typeface="Arial"/>
                <a:ea typeface="Arial"/>
                <a:cs typeface="Arial"/>
              </a:defRPr>
            </a:pPr>
            <a:r>
              <a:rPr sz="1200" b="1">
                <a:solidFill>
                  <a:srgbClr val="16B8A6"/>
                </a:solidFill>
                <a:latin typeface="Arial"/>
                <a:ea typeface="Arial"/>
                <a:cs typeface="Arial"/>
              </a:rPr>
              <a:t>DATAQUEST 3.0  /  FINAL PRESENTATION</a:t>
            </a:r>
          </a:p>
        </p:txBody>
      </p:sp>
      <p:sp>
        <p:nvSpPr>
          <p:cNvPr id="3" name="Rectangle 2">
            <a:extLst>
              <a:ext uri="{FF2B5EF4-FFF2-40B4-BE49-F238E27FC236}">
                <a16:creationId xmlns:a16="http://schemas.microsoft.com/office/drawing/2014/main" id="{0A22E758-B175-458E-9440-0342027B7B0A}"/>
              </a:ext>
            </a:extLst>
          </p:cNvPr>
          <p:cNvSpPr>
            <a:spLocks noGrp="1"/>
          </p:cNvSpPr>
          <p:nvPr/>
        </p:nvSpPr>
        <p:spPr>
          <a:xfrm>
            <a:off x="723900" y="1447800"/>
            <a:ext cx="7143750" cy="1409700"/>
          </a:xfrm>
          <a:prstGeom prst="rect">
            <a:avLst/>
          </a:prstGeom>
          <a:noFill/>
          <a:ln w="0">
            <a:noFill/>
            <a:prstDash val="solid"/>
          </a:ln>
        </p:spPr>
        <p:txBody>
          <a:bodyPr anchor="t">
            <a:normAutofit/>
          </a:bodyPr>
          <a:lstStyle/>
          <a:p>
            <a:pPr algn="l">
              <a:lnSpc>
                <a:spcPct val="100000"/>
              </a:lnSpc>
              <a:buNone/>
              <a:defRPr sz="4125" b="1">
                <a:solidFill>
                  <a:srgbClr val="FFFFFF"/>
                </a:solidFill>
                <a:latin typeface="Arial"/>
                <a:ea typeface="Arial"/>
                <a:cs typeface="Arial"/>
              </a:defRPr>
            </a:pPr>
            <a:r>
              <a:rPr sz="4125" b="1">
                <a:solidFill>
                  <a:srgbClr val="FFFFFF"/>
                </a:solidFill>
                <a:latin typeface="Arial"/>
                <a:ea typeface="Arial"/>
                <a:cs typeface="Arial"/>
              </a:rPr>
              <a:t>Next-generation equipment</a:t>
            </a:r>
          </a:p>
          <a:p>
            <a:pPr algn="l">
              <a:lnSpc>
                <a:spcPct val="100000"/>
              </a:lnSpc>
              <a:buNone/>
              <a:defRPr sz="4125" b="1">
                <a:solidFill>
                  <a:srgbClr val="FFFFFF"/>
                </a:solidFill>
                <a:latin typeface="Arial"/>
                <a:ea typeface="Arial"/>
                <a:cs typeface="Arial"/>
              </a:defRPr>
            </a:pPr>
            <a:r>
              <a:rPr sz="4125" b="1">
                <a:solidFill>
                  <a:srgbClr val="FFFFFF"/>
                </a:solidFill>
                <a:latin typeface="Arial"/>
                <a:ea typeface="Arial"/>
                <a:cs typeface="Arial"/>
              </a:rPr>
              <a:t>service management</a:t>
            </a:r>
          </a:p>
        </p:txBody>
      </p:sp>
      <p:sp>
        <p:nvSpPr>
          <p:cNvPr id="4" name="Rectangle 3">
            <a:extLst>
              <a:ext uri="{FF2B5EF4-FFF2-40B4-BE49-F238E27FC236}">
                <a16:creationId xmlns:a16="http://schemas.microsoft.com/office/drawing/2014/main" id="{4A552A8C-BA52-4111-BB87-3ABAD0908E01}"/>
              </a:ext>
            </a:extLst>
          </p:cNvPr>
          <p:cNvSpPr>
            <a:spLocks noGrp="1"/>
          </p:cNvSpPr>
          <p:nvPr/>
        </p:nvSpPr>
        <p:spPr>
          <a:xfrm>
            <a:off x="762000" y="3143250"/>
            <a:ext cx="6667500" cy="514350"/>
          </a:xfrm>
          <a:prstGeom prst="rect">
            <a:avLst/>
          </a:prstGeom>
          <a:noFill/>
          <a:ln w="0">
            <a:noFill/>
            <a:prstDash val="solid"/>
          </a:ln>
        </p:spPr>
        <p:txBody>
          <a:bodyPr anchor="t">
            <a:normAutofit/>
          </a:bodyPr>
          <a:lstStyle/>
          <a:p>
            <a:pPr algn="l">
              <a:lnSpc>
                <a:spcPct val="100000"/>
              </a:lnSpc>
              <a:buNone/>
              <a:defRPr sz="1875" b="0">
                <a:solidFill>
                  <a:srgbClr val="C9D8E2"/>
                </a:solidFill>
                <a:latin typeface="Arial"/>
                <a:ea typeface="Arial"/>
                <a:cs typeface="Arial"/>
              </a:defRPr>
            </a:pPr>
            <a:r>
              <a:rPr sz="1875" b="0">
                <a:solidFill>
                  <a:srgbClr val="C9D8E2"/>
                </a:solidFill>
                <a:latin typeface="Arial"/>
                <a:ea typeface="Arial"/>
                <a:cs typeface="Arial"/>
              </a:rPr>
              <a:t>A centralized platform for industrial maintenance operations</a:t>
            </a:r>
          </a:p>
        </p:txBody>
      </p:sp>
      <p:sp>
        <p:nvSpPr>
          <p:cNvPr id="5" name="Rectangle 4">
            <a:extLst>
              <a:ext uri="{FF2B5EF4-FFF2-40B4-BE49-F238E27FC236}">
                <a16:creationId xmlns:a16="http://schemas.microsoft.com/office/drawing/2014/main" id="{14A91E10-EBE2-49EB-A70A-C1904490D828}"/>
              </a:ext>
            </a:extLst>
          </p:cNvPr>
          <p:cNvSpPr>
            <a:spLocks noGrp="1"/>
          </p:cNvSpPr>
          <p:nvPr/>
        </p:nvSpPr>
        <p:spPr>
          <a:xfrm>
            <a:off x="762000" y="4095750"/>
            <a:ext cx="2000250" cy="28575"/>
          </a:xfrm>
          <a:prstGeom prst="rect">
            <a:avLst/>
          </a:prstGeom>
          <a:solidFill>
            <a:srgbClr val="16B8A6"/>
          </a:solidFill>
          <a:ln w="0">
            <a:noFill/>
            <a:prstDash val="solid"/>
          </a:ln>
        </p:spPr>
      </p:sp>
      <p:sp>
        <p:nvSpPr>
          <p:cNvPr id="6" name="Rectangle 5">
            <a:extLst>
              <a:ext uri="{FF2B5EF4-FFF2-40B4-BE49-F238E27FC236}">
                <a16:creationId xmlns:a16="http://schemas.microsoft.com/office/drawing/2014/main" id="{C8167A7E-9B3F-4130-9447-543A5F9F34B7}"/>
              </a:ext>
            </a:extLst>
          </p:cNvPr>
          <p:cNvSpPr>
            <a:spLocks noGrp="1"/>
          </p:cNvSpPr>
          <p:nvPr/>
        </p:nvSpPr>
        <p:spPr>
          <a:xfrm>
            <a:off x="762000" y="4400550"/>
            <a:ext cx="4762500" cy="361950"/>
          </a:xfrm>
          <a:prstGeom prst="rect">
            <a:avLst/>
          </a:prstGeom>
          <a:noFill/>
          <a:ln w="0">
            <a:noFill/>
            <a:prstDash val="solid"/>
          </a:ln>
        </p:spPr>
        <p:txBody>
          <a:bodyPr anchor="ctr">
            <a:normAutofit/>
          </a:bodyPr>
          <a:lstStyle/>
          <a:p>
            <a:pPr algn="l">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DURANTHAM</a:t>
            </a:r>
          </a:p>
        </p:txBody>
      </p:sp>
      <p:sp>
        <p:nvSpPr>
          <p:cNvPr id="7" name="Rectangle 6">
            <a:extLst>
              <a:ext uri="{FF2B5EF4-FFF2-40B4-BE49-F238E27FC236}">
                <a16:creationId xmlns:a16="http://schemas.microsoft.com/office/drawing/2014/main" id="{13EFA46A-377F-4073-A9BC-6BBD64474A78}"/>
              </a:ext>
            </a:extLst>
          </p:cNvPr>
          <p:cNvSpPr>
            <a:spLocks noGrp="1"/>
          </p:cNvSpPr>
          <p:nvPr/>
        </p:nvSpPr>
        <p:spPr>
          <a:xfrm>
            <a:off x="762000" y="6143625"/>
            <a:ext cx="6667500" cy="209550"/>
          </a:xfrm>
          <a:prstGeom prst="rect">
            <a:avLst/>
          </a:prstGeom>
          <a:noFill/>
          <a:ln w="0">
            <a:noFill/>
            <a:prstDash val="solid"/>
          </a:ln>
        </p:spPr>
        <p:txBody>
          <a:bodyPr anchor="ctr">
            <a:normAutofit fontScale="73809"/>
          </a:bodyPr>
          <a:lstStyle/>
          <a:p>
            <a:pPr algn="l">
              <a:lnSpc>
                <a:spcPct val="100000"/>
              </a:lnSpc>
              <a:buNone/>
              <a:defRPr sz="1050" b="0">
                <a:solidFill>
                  <a:srgbClr val="C9D8E2"/>
                </a:solidFill>
                <a:latin typeface="Arial"/>
                <a:ea typeface="Arial"/>
                <a:cs typeface="Arial"/>
              </a:defRPr>
            </a:pPr>
            <a:r>
              <a:rPr sz="1050" b="0">
                <a:solidFill>
                  <a:srgbClr val="C9D8E2"/>
                </a:solidFill>
                <a:latin typeface="Arial"/>
                <a:ea typeface="Arial"/>
                <a:cs typeface="Arial"/>
              </a:rPr>
              <a:t>Service requests  /  technician matching  /  resource tracking</a:t>
            </a:r>
          </a:p>
        </p:txBody>
      </p:sp>
    </p:spTree>
    <p:extLst>
      <p:ext uri="{BB962C8B-B14F-4D97-AF65-F5344CB8AC3E}">
        <p14:creationId xmlns:p14="http://schemas.microsoft.com/office/powerpoint/2010/main" val="883580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D8F72597-6F1D-45E3-B493-B1E73B09ADFD}"/>
              </a:ext>
            </a:extLst>
          </p:cNvPr>
          <p:cNvSpPr>
            <a:spLocks noGrp="1"/>
          </p:cNvSpPr>
          <p:nvPr/>
        </p:nvSpPr>
        <p:spPr>
          <a:xfrm>
            <a:off x="0" y="0"/>
            <a:ext cx="133350" cy="6858000"/>
          </a:xfrm>
          <a:prstGeom prst="rect">
            <a:avLst/>
          </a:prstGeom>
          <a:solidFill>
            <a:srgbClr val="16B8A6"/>
          </a:solidFill>
          <a:ln w="0">
            <a:noFill/>
            <a:prstDash val="solid"/>
          </a:ln>
        </p:spPr>
      </p:sp>
      <p:sp>
        <p:nvSpPr>
          <p:cNvPr id="2" name="Rectangle 1">
            <a:extLst>
              <a:ext uri="{FF2B5EF4-FFF2-40B4-BE49-F238E27FC236}">
                <a16:creationId xmlns:a16="http://schemas.microsoft.com/office/drawing/2014/main" id="{E3FA82B8-83B8-4D34-B61E-3FA7EA0AADDD}"/>
              </a:ext>
            </a:extLst>
          </p:cNvPr>
          <p:cNvSpPr>
            <a:spLocks noGrp="1"/>
          </p:cNvSpPr>
          <p:nvPr/>
        </p:nvSpPr>
        <p:spPr>
          <a:xfrm>
            <a:off x="666750" y="304800"/>
            <a:ext cx="6667500" cy="247650"/>
          </a:xfrm>
          <a:prstGeom prst="rect">
            <a:avLst/>
          </a:prstGeom>
          <a:noFill/>
          <a:ln w="0">
            <a:noFill/>
            <a:prstDash val="solid"/>
          </a:ln>
        </p:spPr>
        <p:txBody>
          <a:bodyPr anchor="ctr">
            <a:normAutofit fontScale="97619"/>
          </a:bodyPr>
          <a:lstStyle/>
          <a:p>
            <a:pPr algn="l">
              <a:lnSpc>
                <a:spcPct val="100000"/>
              </a:lnSpc>
              <a:buNone/>
              <a:defRPr sz="1050" b="1">
                <a:solidFill>
                  <a:srgbClr val="087F78"/>
                </a:solidFill>
                <a:latin typeface="Arial"/>
                <a:ea typeface="Arial"/>
                <a:cs typeface="Arial"/>
              </a:defRPr>
            </a:pPr>
            <a:r>
              <a:rPr sz="1050" b="1">
                <a:solidFill>
                  <a:srgbClr val="087F78"/>
                </a:solidFill>
                <a:latin typeface="Arial"/>
                <a:ea typeface="Arial"/>
                <a:cs typeface="Arial"/>
              </a:rPr>
              <a:t>THE OPERATIONAL PROBLEM</a:t>
            </a:r>
          </a:p>
        </p:txBody>
      </p:sp>
      <p:sp>
        <p:nvSpPr>
          <p:cNvPr id="3" name="Rectangle 2">
            <a:extLst>
              <a:ext uri="{FF2B5EF4-FFF2-40B4-BE49-F238E27FC236}">
                <a16:creationId xmlns:a16="http://schemas.microsoft.com/office/drawing/2014/main" id="{33E3708E-B85D-4F87-81FA-FDF0EAAFF65B}"/>
              </a:ext>
            </a:extLst>
          </p:cNvPr>
          <p:cNvSpPr>
            <a:spLocks noGrp="1"/>
          </p:cNvSpPr>
          <p:nvPr/>
        </p:nvSpPr>
        <p:spPr>
          <a:xfrm>
            <a:off x="666750" y="647700"/>
            <a:ext cx="10763250" cy="685800"/>
          </a:xfrm>
          <a:prstGeom prst="rect">
            <a:avLst/>
          </a:prstGeom>
          <a:noFill/>
          <a:ln w="0">
            <a:noFill/>
            <a:prstDash val="solid"/>
          </a:ln>
        </p:spPr>
        <p:txBody>
          <a:bodyPr anchor="ctr">
            <a:normAutofit/>
          </a:bodyPr>
          <a:lstStyle/>
          <a:p>
            <a:pPr algn="l">
              <a:lnSpc>
                <a:spcPct val="100000"/>
              </a:lnSpc>
              <a:buNone/>
              <a:defRPr sz="3600" b="1">
                <a:solidFill>
                  <a:srgbClr val="0B1F33"/>
                </a:solidFill>
                <a:latin typeface="Arial"/>
                <a:ea typeface="Arial"/>
                <a:cs typeface="Arial"/>
              </a:defRPr>
            </a:pPr>
            <a:r>
              <a:rPr sz="3600" b="1">
                <a:solidFill>
                  <a:srgbClr val="0B1F33"/>
                </a:solidFill>
                <a:latin typeface="Arial"/>
                <a:ea typeface="Arial"/>
                <a:cs typeface="Arial"/>
              </a:rPr>
              <a:t>Service work is split across disconnected tools</a:t>
            </a:r>
          </a:p>
        </p:txBody>
      </p:sp>
      <p:sp>
        <p:nvSpPr>
          <p:cNvPr id="4" name="Rectangle 3">
            <a:extLst>
              <a:ext uri="{FF2B5EF4-FFF2-40B4-BE49-F238E27FC236}">
                <a16:creationId xmlns:a16="http://schemas.microsoft.com/office/drawing/2014/main" id="{6AD2FB4A-83B1-43DE-B931-D9183E890D5A}"/>
              </a:ext>
            </a:extLst>
          </p:cNvPr>
          <p:cNvSpPr>
            <a:spLocks noGrp="1"/>
          </p:cNvSpPr>
          <p:nvPr/>
        </p:nvSpPr>
        <p:spPr>
          <a:xfrm>
            <a:off x="666750" y="6267450"/>
            <a:ext cx="10858500" cy="9525"/>
          </a:xfrm>
          <a:prstGeom prst="rect">
            <a:avLst/>
          </a:prstGeom>
          <a:solidFill>
            <a:srgbClr val="D8E2E8"/>
          </a:solidFill>
          <a:ln w="0">
            <a:noFill/>
            <a:prstDash val="solid"/>
          </a:ln>
        </p:spPr>
      </p:sp>
      <p:sp>
        <p:nvSpPr>
          <p:cNvPr id="5" name="Rectangle 4">
            <a:extLst>
              <a:ext uri="{FF2B5EF4-FFF2-40B4-BE49-F238E27FC236}">
                <a16:creationId xmlns:a16="http://schemas.microsoft.com/office/drawing/2014/main" id="{BDC7909D-6C82-41FF-99EC-FDD65BF1CF80}"/>
              </a:ext>
            </a:extLst>
          </p:cNvPr>
          <p:cNvSpPr>
            <a:spLocks noGrp="1"/>
          </p:cNvSpPr>
          <p:nvPr/>
        </p:nvSpPr>
        <p:spPr>
          <a:xfrm>
            <a:off x="666750" y="6343650"/>
            <a:ext cx="8572500" cy="209550"/>
          </a:xfrm>
          <a:prstGeom prst="rect">
            <a:avLst/>
          </a:prstGeom>
          <a:noFill/>
          <a:ln w="0">
            <a:noFill/>
            <a:prstDash val="solid"/>
          </a:ln>
        </p:spPr>
        <p:txBody>
          <a:bodyPr anchor="ctr">
            <a:normAutofit fontScale="86111"/>
          </a:bodyPr>
          <a:lstStyle/>
          <a:p>
            <a:pPr algn="l">
              <a:lnSpc>
                <a:spcPct val="100000"/>
              </a:lnSpc>
              <a:buNone/>
              <a:defRPr sz="900" b="1">
                <a:solidFill>
                  <a:srgbClr val="597083"/>
                </a:solidFill>
                <a:latin typeface="Arial"/>
                <a:ea typeface="Arial"/>
                <a:cs typeface="Arial"/>
              </a:defRPr>
            </a:pPr>
            <a:r>
              <a:rPr sz="900" b="1">
                <a:solidFill>
                  <a:srgbClr val="597083"/>
                </a:solidFill>
                <a:latin typeface="Arial"/>
                <a:ea typeface="Arial"/>
                <a:cs typeface="Arial"/>
              </a:rPr>
              <a:t>DATAQUEST 3.0  /  DURANTHAM</a:t>
            </a:r>
          </a:p>
        </p:txBody>
      </p:sp>
      <p:sp>
        <p:nvSpPr>
          <p:cNvPr id="6" name="Rectangle 5">
            <a:extLst>
              <a:ext uri="{FF2B5EF4-FFF2-40B4-BE49-F238E27FC236}">
                <a16:creationId xmlns:a16="http://schemas.microsoft.com/office/drawing/2014/main" id="{1AA5260C-9BE3-4973-B1F8-37C827D39198}"/>
              </a:ext>
            </a:extLst>
          </p:cNvPr>
          <p:cNvSpPr>
            <a:spLocks noGrp="1"/>
          </p:cNvSpPr>
          <p:nvPr/>
        </p:nvSpPr>
        <p:spPr>
          <a:xfrm>
            <a:off x="666750" y="1581150"/>
            <a:ext cx="10287000" cy="609600"/>
          </a:xfrm>
          <a:prstGeom prst="rect">
            <a:avLst/>
          </a:prstGeom>
          <a:noFill/>
          <a:ln w="0">
            <a:noFill/>
            <a:prstDash val="solid"/>
          </a:ln>
        </p:spPr>
        <p:txBody>
          <a:bodyPr anchor="t">
            <a:normAutofit/>
          </a:bodyPr>
          <a:lstStyle/>
          <a:p>
            <a:pPr algn="l">
              <a:lnSpc>
                <a:spcPct val="100000"/>
              </a:lnSpc>
              <a:buNone/>
              <a:defRPr sz="2250" b="1">
                <a:solidFill>
                  <a:srgbClr val="183247"/>
                </a:solidFill>
                <a:latin typeface="Arial"/>
                <a:ea typeface="Arial"/>
                <a:cs typeface="Arial"/>
              </a:defRPr>
            </a:pPr>
            <a:r>
              <a:rPr sz="2250" b="1">
                <a:solidFill>
                  <a:srgbClr val="183247"/>
                </a:solidFill>
                <a:latin typeface="Arial"/>
                <a:ea typeface="Arial"/>
                <a:cs typeface="Arial"/>
              </a:rPr>
              <a:t>A single urgent machine fault can trigger a chain of manual checks.</a:t>
            </a:r>
          </a:p>
        </p:txBody>
      </p:sp>
      <p:sp>
        <p:nvSpPr>
          <p:cNvPr id="7" name="Rectangle 6">
            <a:extLst>
              <a:ext uri="{FF2B5EF4-FFF2-40B4-BE49-F238E27FC236}">
                <a16:creationId xmlns:a16="http://schemas.microsoft.com/office/drawing/2014/main" id="{3CE42585-C47D-4280-953D-457F491B6D40}"/>
              </a:ext>
            </a:extLst>
          </p:cNvPr>
          <p:cNvSpPr>
            <a:spLocks noGrp="1"/>
          </p:cNvSpPr>
          <p:nvPr/>
        </p:nvSpPr>
        <p:spPr>
          <a:xfrm>
            <a:off x="723900" y="2514600"/>
            <a:ext cx="533400" cy="342900"/>
          </a:xfrm>
          <a:prstGeom prst="rect">
            <a:avLst/>
          </a:prstGeom>
          <a:noFill/>
          <a:ln w="0">
            <a:noFill/>
            <a:prstDash val="solid"/>
          </a:ln>
        </p:spPr>
        <p:txBody>
          <a:bodyPr anchor="ctr">
            <a:normAutofit/>
          </a:bodyPr>
          <a:lstStyle/>
          <a:p>
            <a:pPr algn="l">
              <a:lnSpc>
                <a:spcPct val="100000"/>
              </a:lnSpc>
              <a:buNone/>
              <a:defRPr sz="1350" b="1">
                <a:solidFill>
                  <a:srgbClr val="087F78"/>
                </a:solidFill>
                <a:latin typeface="Arial"/>
                <a:ea typeface="Arial"/>
                <a:cs typeface="Arial"/>
              </a:defRPr>
            </a:pPr>
            <a:r>
              <a:rPr sz="1350" b="1">
                <a:solidFill>
                  <a:srgbClr val="087F78"/>
                </a:solidFill>
                <a:latin typeface="Arial"/>
                <a:ea typeface="Arial"/>
                <a:cs typeface="Arial"/>
              </a:rPr>
              <a:t>01</a:t>
            </a:r>
          </a:p>
        </p:txBody>
      </p:sp>
      <p:sp>
        <p:nvSpPr>
          <p:cNvPr id="8" name="Rectangle 7">
            <a:extLst>
              <a:ext uri="{FF2B5EF4-FFF2-40B4-BE49-F238E27FC236}">
                <a16:creationId xmlns:a16="http://schemas.microsoft.com/office/drawing/2014/main" id="{A87ECC64-5DD2-48F2-8325-33370BE825A2}"/>
              </a:ext>
            </a:extLst>
          </p:cNvPr>
          <p:cNvSpPr>
            <a:spLocks noGrp="1"/>
          </p:cNvSpPr>
          <p:nvPr/>
        </p:nvSpPr>
        <p:spPr>
          <a:xfrm>
            <a:off x="1428750" y="2486025"/>
            <a:ext cx="2333625" cy="323850"/>
          </a:xfrm>
          <a:prstGeom prst="rect">
            <a:avLst/>
          </a:prstGeom>
          <a:noFill/>
          <a:ln w="0">
            <a:noFill/>
            <a:prstDash val="solid"/>
          </a:ln>
        </p:spPr>
        <p:txBody>
          <a:bodyPr anchor="ctr">
            <a:normAutofit fontScale="92424"/>
          </a:bodyPr>
          <a:lstStyle/>
          <a:p>
            <a:pPr algn="l">
              <a:lnSpc>
                <a:spcPct val="100000"/>
              </a:lnSpc>
              <a:buNone/>
              <a:defRPr sz="1650" b="1">
                <a:solidFill>
                  <a:srgbClr val="0B1F33"/>
                </a:solidFill>
                <a:latin typeface="Arial"/>
                <a:ea typeface="Arial"/>
                <a:cs typeface="Arial"/>
              </a:defRPr>
            </a:pPr>
            <a:r>
              <a:rPr sz="1650" b="1">
                <a:solidFill>
                  <a:srgbClr val="0B1F33"/>
                </a:solidFill>
                <a:latin typeface="Arial"/>
                <a:ea typeface="Arial"/>
                <a:cs typeface="Arial"/>
              </a:rPr>
              <a:t>Request intake</a:t>
            </a:r>
          </a:p>
        </p:txBody>
      </p:sp>
      <p:sp>
        <p:nvSpPr>
          <p:cNvPr id="9" name="Rectangle 8">
            <a:extLst>
              <a:ext uri="{FF2B5EF4-FFF2-40B4-BE49-F238E27FC236}">
                <a16:creationId xmlns:a16="http://schemas.microsoft.com/office/drawing/2014/main" id="{32BD8E89-FC85-4D06-BBD7-689847AE840A}"/>
              </a:ext>
            </a:extLst>
          </p:cNvPr>
          <p:cNvSpPr>
            <a:spLocks noGrp="1"/>
          </p:cNvSpPr>
          <p:nvPr/>
        </p:nvSpPr>
        <p:spPr>
          <a:xfrm>
            <a:off x="4000500" y="2495550"/>
            <a:ext cx="6667500" cy="457200"/>
          </a:xfrm>
          <a:prstGeom prst="rect">
            <a:avLst/>
          </a:prstGeom>
          <a:noFill/>
          <a:ln w="0">
            <a:noFill/>
            <a:prstDash val="solid"/>
          </a:ln>
        </p:spPr>
        <p:txBody>
          <a:bodyPr anchor="t">
            <a:normAutofit/>
          </a:bodyPr>
          <a:lstStyle/>
          <a:p>
            <a:pPr algn="l">
              <a:lnSpc>
                <a:spcPct val="100000"/>
              </a:lnSpc>
              <a:buNone/>
              <a:defRPr sz="1500" b="0">
                <a:solidFill>
                  <a:srgbClr val="597083"/>
                </a:solidFill>
                <a:latin typeface="Arial"/>
                <a:ea typeface="Arial"/>
                <a:cs typeface="Arial"/>
              </a:defRPr>
            </a:pPr>
            <a:r>
              <a:rPr sz="1500" b="0">
                <a:solidFill>
                  <a:srgbClr val="597083"/>
                </a:solidFill>
                <a:latin typeface="Arial"/>
                <a:ea typeface="Arial"/>
                <a:cs typeface="Arial"/>
              </a:rPr>
              <a:t>Requests sit in separate tools and messages.</a:t>
            </a:r>
          </a:p>
        </p:txBody>
      </p:sp>
      <p:sp>
        <p:nvSpPr>
          <p:cNvPr id="10" name="Rectangle 9">
            <a:extLst>
              <a:ext uri="{FF2B5EF4-FFF2-40B4-BE49-F238E27FC236}">
                <a16:creationId xmlns:a16="http://schemas.microsoft.com/office/drawing/2014/main" id="{5F037B3B-33C7-429C-853B-82B1869B1EEF}"/>
              </a:ext>
            </a:extLst>
          </p:cNvPr>
          <p:cNvSpPr>
            <a:spLocks noGrp="1"/>
          </p:cNvSpPr>
          <p:nvPr/>
        </p:nvSpPr>
        <p:spPr>
          <a:xfrm>
            <a:off x="1428750" y="3048000"/>
            <a:ext cx="9144000" cy="9525"/>
          </a:xfrm>
          <a:prstGeom prst="rect">
            <a:avLst/>
          </a:prstGeom>
          <a:solidFill>
            <a:srgbClr val="D8E2E8"/>
          </a:solidFill>
          <a:ln w="0">
            <a:noFill/>
            <a:prstDash val="solid"/>
          </a:ln>
        </p:spPr>
      </p:sp>
      <p:sp>
        <p:nvSpPr>
          <p:cNvPr id="11" name="Rectangle 10">
            <a:extLst>
              <a:ext uri="{FF2B5EF4-FFF2-40B4-BE49-F238E27FC236}">
                <a16:creationId xmlns:a16="http://schemas.microsoft.com/office/drawing/2014/main" id="{3AD67A53-DD9B-41DB-802A-9E2498566E80}"/>
              </a:ext>
            </a:extLst>
          </p:cNvPr>
          <p:cNvSpPr>
            <a:spLocks noGrp="1"/>
          </p:cNvSpPr>
          <p:nvPr/>
        </p:nvSpPr>
        <p:spPr>
          <a:xfrm>
            <a:off x="723900" y="3295650"/>
            <a:ext cx="533400" cy="342900"/>
          </a:xfrm>
          <a:prstGeom prst="rect">
            <a:avLst/>
          </a:prstGeom>
          <a:noFill/>
          <a:ln w="0">
            <a:noFill/>
            <a:prstDash val="solid"/>
          </a:ln>
        </p:spPr>
        <p:txBody>
          <a:bodyPr anchor="ctr">
            <a:normAutofit/>
          </a:bodyPr>
          <a:lstStyle/>
          <a:p>
            <a:pPr algn="l">
              <a:lnSpc>
                <a:spcPct val="100000"/>
              </a:lnSpc>
              <a:buNone/>
              <a:defRPr sz="1350" b="1">
                <a:solidFill>
                  <a:srgbClr val="087F78"/>
                </a:solidFill>
                <a:latin typeface="Arial"/>
                <a:ea typeface="Arial"/>
                <a:cs typeface="Arial"/>
              </a:defRPr>
            </a:pPr>
            <a:r>
              <a:rPr sz="1350" b="1">
                <a:solidFill>
                  <a:srgbClr val="087F78"/>
                </a:solidFill>
                <a:latin typeface="Arial"/>
                <a:ea typeface="Arial"/>
                <a:cs typeface="Arial"/>
              </a:rPr>
              <a:t>02</a:t>
            </a:r>
          </a:p>
        </p:txBody>
      </p:sp>
      <p:sp>
        <p:nvSpPr>
          <p:cNvPr id="12" name="Rectangle 11">
            <a:extLst>
              <a:ext uri="{FF2B5EF4-FFF2-40B4-BE49-F238E27FC236}">
                <a16:creationId xmlns:a16="http://schemas.microsoft.com/office/drawing/2014/main" id="{85A879A5-75DC-4A41-9D06-69FECE098510}"/>
              </a:ext>
            </a:extLst>
          </p:cNvPr>
          <p:cNvSpPr>
            <a:spLocks noGrp="1"/>
          </p:cNvSpPr>
          <p:nvPr/>
        </p:nvSpPr>
        <p:spPr>
          <a:xfrm>
            <a:off x="1428750" y="3267075"/>
            <a:ext cx="2333625" cy="323850"/>
          </a:xfrm>
          <a:prstGeom prst="rect">
            <a:avLst/>
          </a:prstGeom>
          <a:noFill/>
          <a:ln w="0">
            <a:noFill/>
            <a:prstDash val="solid"/>
          </a:ln>
        </p:spPr>
        <p:txBody>
          <a:bodyPr anchor="ctr">
            <a:normAutofit fontScale="92424"/>
          </a:bodyPr>
          <a:lstStyle/>
          <a:p>
            <a:pPr algn="l">
              <a:lnSpc>
                <a:spcPct val="100000"/>
              </a:lnSpc>
              <a:buNone/>
              <a:defRPr sz="1650" b="1">
                <a:solidFill>
                  <a:srgbClr val="0B1F33"/>
                </a:solidFill>
                <a:latin typeface="Arial"/>
                <a:ea typeface="Arial"/>
                <a:cs typeface="Arial"/>
              </a:defRPr>
            </a:pPr>
            <a:r>
              <a:rPr sz="1650" b="1">
                <a:solidFill>
                  <a:srgbClr val="0B1F33"/>
                </a:solidFill>
                <a:latin typeface="Arial"/>
                <a:ea typeface="Arial"/>
                <a:cs typeface="Arial"/>
              </a:rPr>
              <a:t>Resource checks</a:t>
            </a:r>
          </a:p>
        </p:txBody>
      </p:sp>
      <p:sp>
        <p:nvSpPr>
          <p:cNvPr id="13" name="Rectangle 12">
            <a:extLst>
              <a:ext uri="{FF2B5EF4-FFF2-40B4-BE49-F238E27FC236}">
                <a16:creationId xmlns:a16="http://schemas.microsoft.com/office/drawing/2014/main" id="{C9992766-FC4B-4DC2-BD3E-763CEF6BCD07}"/>
              </a:ext>
            </a:extLst>
          </p:cNvPr>
          <p:cNvSpPr>
            <a:spLocks noGrp="1"/>
          </p:cNvSpPr>
          <p:nvPr/>
        </p:nvSpPr>
        <p:spPr>
          <a:xfrm>
            <a:off x="4000500" y="3276600"/>
            <a:ext cx="6667500" cy="457200"/>
          </a:xfrm>
          <a:prstGeom prst="rect">
            <a:avLst/>
          </a:prstGeom>
          <a:noFill/>
          <a:ln w="0">
            <a:noFill/>
            <a:prstDash val="solid"/>
          </a:ln>
        </p:spPr>
        <p:txBody>
          <a:bodyPr anchor="t">
            <a:normAutofit/>
          </a:bodyPr>
          <a:lstStyle/>
          <a:p>
            <a:pPr algn="l">
              <a:lnSpc>
                <a:spcPct val="100000"/>
              </a:lnSpc>
              <a:buNone/>
              <a:defRPr sz="1500" b="0">
                <a:solidFill>
                  <a:srgbClr val="597083"/>
                </a:solidFill>
                <a:latin typeface="Arial"/>
                <a:ea typeface="Arial"/>
                <a:cs typeface="Arial"/>
              </a:defRPr>
            </a:pPr>
            <a:r>
              <a:rPr sz="1500" b="0">
                <a:solidFill>
                  <a:srgbClr val="597083"/>
                </a:solidFill>
                <a:latin typeface="Arial"/>
                <a:ea typeface="Arial"/>
                <a:cs typeface="Arial"/>
              </a:rPr>
              <a:t>Teams manually confirm skills, location and parts.</a:t>
            </a:r>
          </a:p>
        </p:txBody>
      </p:sp>
      <p:sp>
        <p:nvSpPr>
          <p:cNvPr id="14" name="Rectangle 13">
            <a:extLst>
              <a:ext uri="{FF2B5EF4-FFF2-40B4-BE49-F238E27FC236}">
                <a16:creationId xmlns:a16="http://schemas.microsoft.com/office/drawing/2014/main" id="{2943CCCE-3D4B-4243-9B99-157D652E1131}"/>
              </a:ext>
            </a:extLst>
          </p:cNvPr>
          <p:cNvSpPr>
            <a:spLocks noGrp="1"/>
          </p:cNvSpPr>
          <p:nvPr/>
        </p:nvSpPr>
        <p:spPr>
          <a:xfrm>
            <a:off x="1428750" y="3829050"/>
            <a:ext cx="9144000" cy="9525"/>
          </a:xfrm>
          <a:prstGeom prst="rect">
            <a:avLst/>
          </a:prstGeom>
          <a:solidFill>
            <a:srgbClr val="D8E2E8"/>
          </a:solidFill>
          <a:ln w="0">
            <a:noFill/>
            <a:prstDash val="solid"/>
          </a:ln>
        </p:spPr>
      </p:sp>
      <p:sp>
        <p:nvSpPr>
          <p:cNvPr id="15" name="Rectangle 14">
            <a:extLst>
              <a:ext uri="{FF2B5EF4-FFF2-40B4-BE49-F238E27FC236}">
                <a16:creationId xmlns:a16="http://schemas.microsoft.com/office/drawing/2014/main" id="{E1035994-9753-4DE9-B074-A8669D936BE0}"/>
              </a:ext>
            </a:extLst>
          </p:cNvPr>
          <p:cNvSpPr>
            <a:spLocks noGrp="1"/>
          </p:cNvSpPr>
          <p:nvPr/>
        </p:nvSpPr>
        <p:spPr>
          <a:xfrm>
            <a:off x="723900" y="4076700"/>
            <a:ext cx="533400" cy="342900"/>
          </a:xfrm>
          <a:prstGeom prst="rect">
            <a:avLst/>
          </a:prstGeom>
          <a:noFill/>
          <a:ln w="0">
            <a:noFill/>
            <a:prstDash val="solid"/>
          </a:ln>
        </p:spPr>
        <p:txBody>
          <a:bodyPr anchor="ctr">
            <a:normAutofit/>
          </a:bodyPr>
          <a:lstStyle/>
          <a:p>
            <a:pPr algn="l">
              <a:lnSpc>
                <a:spcPct val="100000"/>
              </a:lnSpc>
              <a:buNone/>
              <a:defRPr sz="1350" b="1">
                <a:solidFill>
                  <a:srgbClr val="087F78"/>
                </a:solidFill>
                <a:latin typeface="Arial"/>
                <a:ea typeface="Arial"/>
                <a:cs typeface="Arial"/>
              </a:defRPr>
            </a:pPr>
            <a:r>
              <a:rPr sz="1350" b="1">
                <a:solidFill>
                  <a:srgbClr val="087F78"/>
                </a:solidFill>
                <a:latin typeface="Arial"/>
                <a:ea typeface="Arial"/>
                <a:cs typeface="Arial"/>
              </a:rPr>
              <a:t>03</a:t>
            </a:r>
          </a:p>
        </p:txBody>
      </p:sp>
      <p:sp>
        <p:nvSpPr>
          <p:cNvPr id="16" name="Rectangle 15">
            <a:extLst>
              <a:ext uri="{FF2B5EF4-FFF2-40B4-BE49-F238E27FC236}">
                <a16:creationId xmlns:a16="http://schemas.microsoft.com/office/drawing/2014/main" id="{28A8CDF9-9403-4CDD-B577-01C5C6776C06}"/>
              </a:ext>
            </a:extLst>
          </p:cNvPr>
          <p:cNvSpPr>
            <a:spLocks noGrp="1"/>
          </p:cNvSpPr>
          <p:nvPr/>
        </p:nvSpPr>
        <p:spPr>
          <a:xfrm>
            <a:off x="1428750" y="4048125"/>
            <a:ext cx="2333625" cy="323850"/>
          </a:xfrm>
          <a:prstGeom prst="rect">
            <a:avLst/>
          </a:prstGeom>
          <a:noFill/>
          <a:ln w="0">
            <a:noFill/>
            <a:prstDash val="solid"/>
          </a:ln>
        </p:spPr>
        <p:txBody>
          <a:bodyPr anchor="ctr">
            <a:normAutofit fontScale="92424"/>
          </a:bodyPr>
          <a:lstStyle/>
          <a:p>
            <a:pPr algn="l">
              <a:lnSpc>
                <a:spcPct val="100000"/>
              </a:lnSpc>
              <a:buNone/>
              <a:defRPr sz="1650" b="1">
                <a:solidFill>
                  <a:srgbClr val="0B1F33"/>
                </a:solidFill>
                <a:latin typeface="Arial"/>
                <a:ea typeface="Arial"/>
                <a:cs typeface="Arial"/>
              </a:defRPr>
            </a:pPr>
            <a:r>
              <a:rPr sz="1650" b="1">
                <a:solidFill>
                  <a:srgbClr val="0B1F33"/>
                </a:solidFill>
                <a:latin typeface="Arial"/>
                <a:ea typeface="Arial"/>
                <a:cs typeface="Arial"/>
              </a:rPr>
              <a:t>Field changes</a:t>
            </a:r>
          </a:p>
        </p:txBody>
      </p:sp>
      <p:sp>
        <p:nvSpPr>
          <p:cNvPr id="17" name="Rectangle 16">
            <a:extLst>
              <a:ext uri="{FF2B5EF4-FFF2-40B4-BE49-F238E27FC236}">
                <a16:creationId xmlns:a16="http://schemas.microsoft.com/office/drawing/2014/main" id="{F21FBEE4-2F71-4421-8B84-B6B2077D71BC}"/>
              </a:ext>
            </a:extLst>
          </p:cNvPr>
          <p:cNvSpPr>
            <a:spLocks noGrp="1"/>
          </p:cNvSpPr>
          <p:nvPr/>
        </p:nvSpPr>
        <p:spPr>
          <a:xfrm>
            <a:off x="4000500" y="4057650"/>
            <a:ext cx="6667500" cy="457200"/>
          </a:xfrm>
          <a:prstGeom prst="rect">
            <a:avLst/>
          </a:prstGeom>
          <a:noFill/>
          <a:ln w="0">
            <a:noFill/>
            <a:prstDash val="solid"/>
          </a:ln>
        </p:spPr>
        <p:txBody>
          <a:bodyPr anchor="t">
            <a:normAutofit/>
          </a:bodyPr>
          <a:lstStyle/>
          <a:p>
            <a:pPr algn="l">
              <a:lnSpc>
                <a:spcPct val="100000"/>
              </a:lnSpc>
              <a:buNone/>
              <a:defRPr sz="1500" b="0">
                <a:solidFill>
                  <a:srgbClr val="597083"/>
                </a:solidFill>
                <a:latin typeface="Arial"/>
                <a:ea typeface="Arial"/>
                <a:cs typeface="Arial"/>
              </a:defRPr>
            </a:pPr>
            <a:r>
              <a:rPr sz="1500" b="0">
                <a:solidFill>
                  <a:srgbClr val="597083"/>
                </a:solidFill>
                <a:latin typeface="Arial"/>
                <a:ea typeface="Arial"/>
                <a:cs typeface="Arial"/>
              </a:rPr>
              <a:t>Dropouts and delays surface after schedules slip.</a:t>
            </a:r>
          </a:p>
        </p:txBody>
      </p:sp>
      <p:sp>
        <p:nvSpPr>
          <p:cNvPr id="18" name="Rectangle 17">
            <a:extLst>
              <a:ext uri="{FF2B5EF4-FFF2-40B4-BE49-F238E27FC236}">
                <a16:creationId xmlns:a16="http://schemas.microsoft.com/office/drawing/2014/main" id="{1E5CA69B-A61D-4086-9923-859C53003E30}"/>
              </a:ext>
            </a:extLst>
          </p:cNvPr>
          <p:cNvSpPr>
            <a:spLocks noGrp="1"/>
          </p:cNvSpPr>
          <p:nvPr/>
        </p:nvSpPr>
        <p:spPr>
          <a:xfrm>
            <a:off x="1428750" y="4610100"/>
            <a:ext cx="9144000" cy="9525"/>
          </a:xfrm>
          <a:prstGeom prst="rect">
            <a:avLst/>
          </a:prstGeom>
          <a:solidFill>
            <a:srgbClr val="D8E2E8"/>
          </a:solidFill>
          <a:ln w="0">
            <a:noFill/>
            <a:prstDash val="solid"/>
          </a:ln>
        </p:spPr>
      </p:sp>
      <p:sp>
        <p:nvSpPr>
          <p:cNvPr id="19" name="Rectangle 18">
            <a:extLst>
              <a:ext uri="{FF2B5EF4-FFF2-40B4-BE49-F238E27FC236}">
                <a16:creationId xmlns:a16="http://schemas.microsoft.com/office/drawing/2014/main" id="{C0C35F6A-A6E9-4F1E-B571-EA8B6F9816B2}"/>
              </a:ext>
            </a:extLst>
          </p:cNvPr>
          <p:cNvSpPr>
            <a:spLocks noGrp="1"/>
          </p:cNvSpPr>
          <p:nvPr/>
        </p:nvSpPr>
        <p:spPr>
          <a:xfrm>
            <a:off x="723900" y="4857750"/>
            <a:ext cx="533400" cy="342900"/>
          </a:xfrm>
          <a:prstGeom prst="rect">
            <a:avLst/>
          </a:prstGeom>
          <a:noFill/>
          <a:ln w="0">
            <a:noFill/>
            <a:prstDash val="solid"/>
          </a:ln>
        </p:spPr>
        <p:txBody>
          <a:bodyPr anchor="ctr">
            <a:normAutofit/>
          </a:bodyPr>
          <a:lstStyle/>
          <a:p>
            <a:pPr algn="l">
              <a:lnSpc>
                <a:spcPct val="100000"/>
              </a:lnSpc>
              <a:buNone/>
              <a:defRPr sz="1350" b="1">
                <a:solidFill>
                  <a:srgbClr val="087F78"/>
                </a:solidFill>
                <a:latin typeface="Arial"/>
                <a:ea typeface="Arial"/>
                <a:cs typeface="Arial"/>
              </a:defRPr>
            </a:pPr>
            <a:r>
              <a:rPr sz="1350" b="1">
                <a:solidFill>
                  <a:srgbClr val="087F78"/>
                </a:solidFill>
                <a:latin typeface="Arial"/>
                <a:ea typeface="Arial"/>
                <a:cs typeface="Arial"/>
              </a:rPr>
              <a:t>04</a:t>
            </a:r>
          </a:p>
        </p:txBody>
      </p:sp>
      <p:sp>
        <p:nvSpPr>
          <p:cNvPr id="20" name="Rectangle 19">
            <a:extLst>
              <a:ext uri="{FF2B5EF4-FFF2-40B4-BE49-F238E27FC236}">
                <a16:creationId xmlns:a16="http://schemas.microsoft.com/office/drawing/2014/main" id="{2B5DE17F-4B02-4BFF-A4E3-C06019A7C009}"/>
              </a:ext>
            </a:extLst>
          </p:cNvPr>
          <p:cNvSpPr>
            <a:spLocks noGrp="1"/>
          </p:cNvSpPr>
          <p:nvPr/>
        </p:nvSpPr>
        <p:spPr>
          <a:xfrm>
            <a:off x="1428750" y="4829175"/>
            <a:ext cx="2333625" cy="323850"/>
          </a:xfrm>
          <a:prstGeom prst="rect">
            <a:avLst/>
          </a:prstGeom>
          <a:noFill/>
          <a:ln w="0">
            <a:noFill/>
            <a:prstDash val="solid"/>
          </a:ln>
        </p:spPr>
        <p:txBody>
          <a:bodyPr anchor="ctr">
            <a:normAutofit fontScale="92424"/>
          </a:bodyPr>
          <a:lstStyle/>
          <a:p>
            <a:pPr algn="l">
              <a:lnSpc>
                <a:spcPct val="100000"/>
              </a:lnSpc>
              <a:buNone/>
              <a:defRPr sz="1650" b="1">
                <a:solidFill>
                  <a:srgbClr val="0B1F33"/>
                </a:solidFill>
                <a:latin typeface="Arial"/>
                <a:ea typeface="Arial"/>
                <a:cs typeface="Arial"/>
              </a:defRPr>
            </a:pPr>
            <a:r>
              <a:rPr sz="1650" b="1">
                <a:solidFill>
                  <a:srgbClr val="0B1F33"/>
                </a:solidFill>
                <a:latin typeface="Arial"/>
                <a:ea typeface="Arial"/>
                <a:cs typeface="Arial"/>
              </a:rPr>
              <a:t>Proof of work</a:t>
            </a:r>
          </a:p>
        </p:txBody>
      </p:sp>
      <p:sp>
        <p:nvSpPr>
          <p:cNvPr id="21" name="Rectangle 20">
            <a:extLst>
              <a:ext uri="{FF2B5EF4-FFF2-40B4-BE49-F238E27FC236}">
                <a16:creationId xmlns:a16="http://schemas.microsoft.com/office/drawing/2014/main" id="{104C4BE1-B232-4B82-911A-2A39008E8D74}"/>
              </a:ext>
            </a:extLst>
          </p:cNvPr>
          <p:cNvSpPr>
            <a:spLocks noGrp="1"/>
          </p:cNvSpPr>
          <p:nvPr/>
        </p:nvSpPr>
        <p:spPr>
          <a:xfrm>
            <a:off x="4000500" y="4838700"/>
            <a:ext cx="6667500" cy="457200"/>
          </a:xfrm>
          <a:prstGeom prst="rect">
            <a:avLst/>
          </a:prstGeom>
          <a:noFill/>
          <a:ln w="0">
            <a:noFill/>
            <a:prstDash val="solid"/>
          </a:ln>
        </p:spPr>
        <p:txBody>
          <a:bodyPr anchor="t">
            <a:normAutofit/>
          </a:bodyPr>
          <a:lstStyle/>
          <a:p>
            <a:pPr algn="l">
              <a:lnSpc>
                <a:spcPct val="100000"/>
              </a:lnSpc>
              <a:buNone/>
              <a:defRPr sz="1500" b="0">
                <a:solidFill>
                  <a:srgbClr val="597083"/>
                </a:solidFill>
                <a:latin typeface="Arial"/>
                <a:ea typeface="Arial"/>
                <a:cs typeface="Arial"/>
              </a:defRPr>
            </a:pPr>
            <a:r>
              <a:rPr sz="1500" b="0">
                <a:solidFill>
                  <a:srgbClr val="597083"/>
                </a:solidFill>
                <a:latin typeface="Arial"/>
                <a:ea typeface="Arial"/>
                <a:cs typeface="Arial"/>
              </a:rPr>
              <a:t>Reports and completion evidence are hard to trace.</a:t>
            </a:r>
          </a:p>
        </p:txBody>
      </p:sp>
      <p:sp>
        <p:nvSpPr>
          <p:cNvPr id="22" name="Rectangle 21">
            <a:extLst>
              <a:ext uri="{FF2B5EF4-FFF2-40B4-BE49-F238E27FC236}">
                <a16:creationId xmlns:a16="http://schemas.microsoft.com/office/drawing/2014/main" id="{C788290F-93C4-4748-8736-5FD35A112D08}"/>
              </a:ext>
            </a:extLst>
          </p:cNvPr>
          <p:cNvSpPr>
            <a:spLocks noGrp="1"/>
          </p:cNvSpPr>
          <p:nvPr/>
        </p:nvSpPr>
        <p:spPr>
          <a:xfrm>
            <a:off x="723900" y="5753100"/>
            <a:ext cx="10668000" cy="323850"/>
          </a:xfrm>
          <a:prstGeom prst="rect">
            <a:avLst/>
          </a:prstGeom>
          <a:noFill/>
          <a:ln w="0">
            <a:noFill/>
            <a:prstDash val="solid"/>
          </a:ln>
        </p:spPr>
        <p:txBody>
          <a:bodyPr anchor="ctr">
            <a:normAutofit/>
          </a:bodyPr>
          <a:lstStyle/>
          <a:p>
            <a:pPr algn="l">
              <a:lnSpc>
                <a:spcPct val="100000"/>
              </a:lnSpc>
              <a:buNone/>
              <a:defRPr sz="1500" b="1">
                <a:solidFill>
                  <a:srgbClr val="C95058"/>
                </a:solidFill>
                <a:latin typeface="Arial"/>
                <a:ea typeface="Arial"/>
                <a:cs typeface="Arial"/>
              </a:defRPr>
            </a:pPr>
            <a:r>
              <a:rPr sz="1500" b="1">
                <a:solidFill>
                  <a:srgbClr val="C95058"/>
                </a:solidFill>
                <a:latin typeface="Arial"/>
                <a:ea typeface="Arial"/>
                <a:cs typeface="Arial"/>
              </a:rPr>
              <a:t>Result: delayed maintenance, resource conflicts and incomplete service history.</a:t>
            </a:r>
          </a:p>
        </p:txBody>
      </p:sp>
    </p:spTree>
    <p:extLst>
      <p:ext uri="{BB962C8B-B14F-4D97-AF65-F5344CB8AC3E}">
        <p14:creationId xmlns:p14="http://schemas.microsoft.com/office/powerpoint/2010/main" val="1609579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A22092C0-F442-4812-B651-152006AD66C0}"/>
              </a:ext>
            </a:extLst>
          </p:cNvPr>
          <p:cNvSpPr>
            <a:spLocks noGrp="1"/>
          </p:cNvSpPr>
          <p:nvPr/>
        </p:nvSpPr>
        <p:spPr>
          <a:xfrm>
            <a:off x="0" y="0"/>
            <a:ext cx="133350" cy="6858000"/>
          </a:xfrm>
          <a:prstGeom prst="rect">
            <a:avLst/>
          </a:prstGeom>
          <a:solidFill>
            <a:srgbClr val="16B8A6"/>
          </a:solidFill>
          <a:ln w="0">
            <a:noFill/>
            <a:prstDash val="solid"/>
          </a:ln>
        </p:spPr>
      </p:sp>
      <p:sp>
        <p:nvSpPr>
          <p:cNvPr id="2" name="Rectangle 1">
            <a:extLst>
              <a:ext uri="{FF2B5EF4-FFF2-40B4-BE49-F238E27FC236}">
                <a16:creationId xmlns:a16="http://schemas.microsoft.com/office/drawing/2014/main" id="{ADDEC455-46CD-4EC2-80CB-CF3A5CC91819}"/>
              </a:ext>
            </a:extLst>
          </p:cNvPr>
          <p:cNvSpPr>
            <a:spLocks noGrp="1"/>
          </p:cNvSpPr>
          <p:nvPr/>
        </p:nvSpPr>
        <p:spPr>
          <a:xfrm>
            <a:off x="666750" y="304800"/>
            <a:ext cx="6667500" cy="247650"/>
          </a:xfrm>
          <a:prstGeom prst="rect">
            <a:avLst/>
          </a:prstGeom>
          <a:noFill/>
          <a:ln w="0">
            <a:noFill/>
            <a:prstDash val="solid"/>
          </a:ln>
        </p:spPr>
        <p:txBody>
          <a:bodyPr anchor="ctr">
            <a:normAutofit fontScale="97619"/>
          </a:bodyPr>
          <a:lstStyle/>
          <a:p>
            <a:pPr algn="l">
              <a:lnSpc>
                <a:spcPct val="100000"/>
              </a:lnSpc>
              <a:buNone/>
              <a:defRPr sz="1050" b="1">
                <a:solidFill>
                  <a:srgbClr val="087F78"/>
                </a:solidFill>
                <a:latin typeface="Arial"/>
                <a:ea typeface="Arial"/>
                <a:cs typeface="Arial"/>
              </a:defRPr>
            </a:pPr>
            <a:r>
              <a:rPr sz="1050" b="1">
                <a:solidFill>
                  <a:srgbClr val="087F78"/>
                </a:solidFill>
                <a:latin typeface="Arial"/>
                <a:ea typeface="Arial"/>
                <a:cs typeface="Arial"/>
              </a:rPr>
              <a:t>THE PLATFORM</a:t>
            </a:r>
          </a:p>
        </p:txBody>
      </p:sp>
      <p:sp>
        <p:nvSpPr>
          <p:cNvPr id="3" name="Rectangle 2">
            <a:extLst>
              <a:ext uri="{FF2B5EF4-FFF2-40B4-BE49-F238E27FC236}">
                <a16:creationId xmlns:a16="http://schemas.microsoft.com/office/drawing/2014/main" id="{8063EF57-36AE-4425-9FB4-D73FBFEEDD03}"/>
              </a:ext>
            </a:extLst>
          </p:cNvPr>
          <p:cNvSpPr>
            <a:spLocks noGrp="1"/>
          </p:cNvSpPr>
          <p:nvPr/>
        </p:nvSpPr>
        <p:spPr>
          <a:xfrm>
            <a:off x="666750" y="647700"/>
            <a:ext cx="10763250" cy="685800"/>
          </a:xfrm>
          <a:prstGeom prst="rect">
            <a:avLst/>
          </a:prstGeom>
          <a:noFill/>
          <a:ln w="0">
            <a:noFill/>
            <a:prstDash val="solid"/>
          </a:ln>
        </p:spPr>
        <p:txBody>
          <a:bodyPr anchor="ctr">
            <a:normAutofit/>
          </a:bodyPr>
          <a:lstStyle/>
          <a:p>
            <a:pPr algn="l">
              <a:lnSpc>
                <a:spcPct val="100000"/>
              </a:lnSpc>
              <a:buNone/>
              <a:defRPr sz="3600" b="1">
                <a:solidFill>
                  <a:srgbClr val="0B1F33"/>
                </a:solidFill>
                <a:latin typeface="Arial"/>
                <a:ea typeface="Arial"/>
                <a:cs typeface="Arial"/>
              </a:defRPr>
            </a:pPr>
            <a:r>
              <a:rPr sz="3600" b="1">
                <a:solidFill>
                  <a:srgbClr val="0B1F33"/>
                </a:solidFill>
                <a:latin typeface="Arial"/>
                <a:ea typeface="Arial"/>
                <a:cs typeface="Arial"/>
              </a:rPr>
              <a:t>One workflow connects the service lifecycle</a:t>
            </a:r>
          </a:p>
        </p:txBody>
      </p:sp>
      <p:sp>
        <p:nvSpPr>
          <p:cNvPr id="4" name="Rectangle 3">
            <a:extLst>
              <a:ext uri="{FF2B5EF4-FFF2-40B4-BE49-F238E27FC236}">
                <a16:creationId xmlns:a16="http://schemas.microsoft.com/office/drawing/2014/main" id="{602B09E7-5E15-43F5-B0E7-101F96D9BC56}"/>
              </a:ext>
            </a:extLst>
          </p:cNvPr>
          <p:cNvSpPr>
            <a:spLocks noGrp="1"/>
          </p:cNvSpPr>
          <p:nvPr/>
        </p:nvSpPr>
        <p:spPr>
          <a:xfrm>
            <a:off x="666750" y="6267450"/>
            <a:ext cx="10858500" cy="9525"/>
          </a:xfrm>
          <a:prstGeom prst="rect">
            <a:avLst/>
          </a:prstGeom>
          <a:solidFill>
            <a:srgbClr val="D8E2E8"/>
          </a:solidFill>
          <a:ln w="0">
            <a:noFill/>
            <a:prstDash val="solid"/>
          </a:ln>
        </p:spPr>
      </p:sp>
      <p:sp>
        <p:nvSpPr>
          <p:cNvPr id="5" name="Rectangle 4">
            <a:extLst>
              <a:ext uri="{FF2B5EF4-FFF2-40B4-BE49-F238E27FC236}">
                <a16:creationId xmlns:a16="http://schemas.microsoft.com/office/drawing/2014/main" id="{B07FC863-E6D0-43B9-A6C3-FC701AA25433}"/>
              </a:ext>
            </a:extLst>
          </p:cNvPr>
          <p:cNvSpPr>
            <a:spLocks noGrp="1"/>
          </p:cNvSpPr>
          <p:nvPr/>
        </p:nvSpPr>
        <p:spPr>
          <a:xfrm>
            <a:off x="666750" y="6343650"/>
            <a:ext cx="8572500" cy="209550"/>
          </a:xfrm>
          <a:prstGeom prst="rect">
            <a:avLst/>
          </a:prstGeom>
          <a:noFill/>
          <a:ln w="0">
            <a:noFill/>
            <a:prstDash val="solid"/>
          </a:ln>
        </p:spPr>
        <p:txBody>
          <a:bodyPr anchor="ctr">
            <a:normAutofit fontScale="86111"/>
          </a:bodyPr>
          <a:lstStyle/>
          <a:p>
            <a:pPr algn="l">
              <a:lnSpc>
                <a:spcPct val="100000"/>
              </a:lnSpc>
              <a:buNone/>
              <a:defRPr sz="900" b="1">
                <a:solidFill>
                  <a:srgbClr val="597083"/>
                </a:solidFill>
                <a:latin typeface="Arial"/>
                <a:ea typeface="Arial"/>
                <a:cs typeface="Arial"/>
              </a:defRPr>
            </a:pPr>
            <a:r>
              <a:rPr sz="900" b="1">
                <a:solidFill>
                  <a:srgbClr val="597083"/>
                </a:solidFill>
                <a:latin typeface="Arial"/>
                <a:ea typeface="Arial"/>
                <a:cs typeface="Arial"/>
              </a:rPr>
              <a:t>DATAQUEST 3.0  /  DURANTHAM</a:t>
            </a:r>
          </a:p>
        </p:txBody>
      </p:sp>
      <p:sp>
        <p:nvSpPr>
          <p:cNvPr id="6" name="Rectangle 5">
            <a:extLst>
              <a:ext uri="{FF2B5EF4-FFF2-40B4-BE49-F238E27FC236}">
                <a16:creationId xmlns:a16="http://schemas.microsoft.com/office/drawing/2014/main" id="{FFC2B8D1-B3A8-40A8-AC93-4CA59ADF5E07}"/>
              </a:ext>
            </a:extLst>
          </p:cNvPr>
          <p:cNvSpPr>
            <a:spLocks noGrp="1"/>
          </p:cNvSpPr>
          <p:nvPr/>
        </p:nvSpPr>
        <p:spPr>
          <a:xfrm>
            <a:off x="723900" y="1504950"/>
            <a:ext cx="10477500" cy="514350"/>
          </a:xfrm>
          <a:prstGeom prst="rect">
            <a:avLst/>
          </a:prstGeom>
          <a:noFill/>
          <a:ln w="0">
            <a:noFill/>
            <a:prstDash val="solid"/>
          </a:ln>
        </p:spPr>
        <p:txBody>
          <a:bodyPr anchor="t">
            <a:normAutofit fontScale="92756"/>
          </a:bodyPr>
          <a:lstStyle/>
          <a:p>
            <a:pPr algn="l">
              <a:lnSpc>
                <a:spcPct val="100000"/>
              </a:lnSpc>
              <a:buNone/>
              <a:defRPr sz="1950" b="1">
                <a:solidFill>
                  <a:srgbClr val="183247"/>
                </a:solidFill>
                <a:latin typeface="Arial"/>
                <a:ea typeface="Arial"/>
                <a:cs typeface="Arial"/>
              </a:defRPr>
            </a:pPr>
            <a:r>
              <a:rPr sz="1950" b="1">
                <a:solidFill>
                  <a:srgbClr val="183247"/>
                </a:solidFill>
                <a:latin typeface="Arial"/>
                <a:ea typeface="Arial"/>
                <a:cs typeface="Arial"/>
              </a:rPr>
              <a:t>Durantham gives operations one place to coordinate each job from intake through verification.</a:t>
            </a:r>
          </a:p>
        </p:txBody>
      </p:sp>
      <p:sp>
        <p:nvSpPr>
          <p:cNvPr id="7" name="Rectangle 6">
            <a:extLst>
              <a:ext uri="{FF2B5EF4-FFF2-40B4-BE49-F238E27FC236}">
                <a16:creationId xmlns:a16="http://schemas.microsoft.com/office/drawing/2014/main" id="{8307FE38-5A07-4708-9B64-122B53D2B117}"/>
              </a:ext>
            </a:extLst>
          </p:cNvPr>
          <p:cNvSpPr>
            <a:spLocks noGrp="1"/>
          </p:cNvSpPr>
          <p:nvPr/>
        </p:nvSpPr>
        <p:spPr>
          <a:xfrm>
            <a:off x="723900" y="2876550"/>
            <a:ext cx="1971675" cy="895350"/>
          </a:xfrm>
          <a:prstGeom prst="rect">
            <a:avLst/>
          </a:prstGeom>
          <a:solidFill>
            <a:srgbClr val="FFFFFF"/>
          </a:solidFill>
          <a:ln w="9525">
            <a:solidFill>
              <a:srgbClr val="D8E2E8"/>
            </a:solidFill>
            <a:prstDash val="solid"/>
          </a:ln>
        </p:spPr>
      </p:sp>
      <p:sp>
        <p:nvSpPr>
          <p:cNvPr id="8" name="Rectangle 7">
            <a:extLst>
              <a:ext uri="{FF2B5EF4-FFF2-40B4-BE49-F238E27FC236}">
                <a16:creationId xmlns:a16="http://schemas.microsoft.com/office/drawing/2014/main" id="{243EEA9F-3E70-47D3-9604-03D88E8DC6A8}"/>
              </a:ext>
            </a:extLst>
          </p:cNvPr>
          <p:cNvSpPr>
            <a:spLocks noGrp="1"/>
          </p:cNvSpPr>
          <p:nvPr/>
        </p:nvSpPr>
        <p:spPr>
          <a:xfrm>
            <a:off x="876300" y="3000375"/>
            <a:ext cx="1666875" cy="209550"/>
          </a:xfrm>
          <a:prstGeom prst="rect">
            <a:avLst/>
          </a:prstGeom>
          <a:noFill/>
          <a:ln w="0">
            <a:noFill/>
            <a:prstDash val="solid"/>
          </a:ln>
        </p:spPr>
        <p:txBody>
          <a:bodyPr anchor="ctr">
            <a:normAutofit fontScale="73809"/>
          </a:bodyPr>
          <a:lstStyle/>
          <a:p>
            <a:pPr algn="l">
              <a:lnSpc>
                <a:spcPct val="100000"/>
              </a:lnSpc>
              <a:buNone/>
              <a:defRPr sz="1050" b="1">
                <a:solidFill>
                  <a:srgbClr val="087F78"/>
                </a:solidFill>
                <a:latin typeface="Arial"/>
                <a:ea typeface="Arial"/>
                <a:cs typeface="Arial"/>
              </a:defRPr>
            </a:pPr>
            <a:r>
              <a:rPr sz="1050" b="1">
                <a:solidFill>
                  <a:srgbClr val="087F78"/>
                </a:solidFill>
                <a:latin typeface="Arial"/>
                <a:ea typeface="Arial"/>
                <a:cs typeface="Arial"/>
              </a:rPr>
              <a:t>REQUEST</a:t>
            </a:r>
          </a:p>
        </p:txBody>
      </p:sp>
      <p:sp>
        <p:nvSpPr>
          <p:cNvPr id="9" name="Rectangle 8">
            <a:extLst>
              <a:ext uri="{FF2B5EF4-FFF2-40B4-BE49-F238E27FC236}">
                <a16:creationId xmlns:a16="http://schemas.microsoft.com/office/drawing/2014/main" id="{D2E3BE02-56FE-4597-BE48-88E2C8C6D09A}"/>
              </a:ext>
            </a:extLst>
          </p:cNvPr>
          <p:cNvSpPr>
            <a:spLocks noGrp="1"/>
          </p:cNvSpPr>
          <p:nvPr/>
        </p:nvSpPr>
        <p:spPr>
          <a:xfrm>
            <a:off x="876300" y="3267075"/>
            <a:ext cx="1666875" cy="400050"/>
          </a:xfrm>
          <a:prstGeom prst="rect">
            <a:avLst/>
          </a:prstGeom>
          <a:noFill/>
          <a:ln w="0">
            <a:noFill/>
            <a:prstDash val="solid"/>
          </a:ln>
        </p:spPr>
        <p:txBody>
          <a:bodyPr anchor="t">
            <a:normAutofit fontScale="75000"/>
          </a:bodyPr>
          <a:lstStyle/>
          <a:p>
            <a:pPr algn="l">
              <a:lnSpc>
                <a:spcPct val="100000"/>
              </a:lnSpc>
              <a:buNone/>
              <a:defRPr sz="1350" b="1">
                <a:solidFill>
                  <a:srgbClr val="183247"/>
                </a:solidFill>
                <a:latin typeface="Arial"/>
                <a:ea typeface="Arial"/>
                <a:cs typeface="Arial"/>
              </a:defRPr>
            </a:pPr>
            <a:r>
              <a:rPr sz="1350" b="1">
                <a:solidFill>
                  <a:srgbClr val="183247"/>
                </a:solidFill>
                <a:latin typeface="Arial"/>
                <a:ea typeface="Arial"/>
                <a:cs typeface="Arial"/>
              </a:rPr>
              <a:t>Machine issue, priority, site</a:t>
            </a:r>
          </a:p>
        </p:txBody>
      </p:sp>
      <p:sp>
        <p:nvSpPr>
          <p:cNvPr id="10" name="Rectangle 9">
            <a:extLst>
              <a:ext uri="{FF2B5EF4-FFF2-40B4-BE49-F238E27FC236}">
                <a16:creationId xmlns:a16="http://schemas.microsoft.com/office/drawing/2014/main" id="{0A52D782-2E38-425E-BEAE-9EC6DB9A9B9F}"/>
              </a:ext>
            </a:extLst>
          </p:cNvPr>
          <p:cNvSpPr>
            <a:spLocks noGrp="1"/>
          </p:cNvSpPr>
          <p:nvPr/>
        </p:nvSpPr>
        <p:spPr>
          <a:xfrm>
            <a:off x="2724150" y="3295650"/>
            <a:ext cx="104775" cy="28575"/>
          </a:xfrm>
          <a:prstGeom prst="rect">
            <a:avLst/>
          </a:prstGeom>
          <a:solidFill>
            <a:srgbClr val="16B8A6"/>
          </a:solidFill>
          <a:ln w="0">
            <a:noFill/>
            <a:prstDash val="solid"/>
          </a:ln>
        </p:spPr>
      </p:sp>
      <p:sp>
        <p:nvSpPr>
          <p:cNvPr id="11" name="Rectangle 10">
            <a:extLst>
              <a:ext uri="{FF2B5EF4-FFF2-40B4-BE49-F238E27FC236}">
                <a16:creationId xmlns:a16="http://schemas.microsoft.com/office/drawing/2014/main" id="{34034119-8BEC-4B22-8411-4AC200A2832D}"/>
              </a:ext>
            </a:extLst>
          </p:cNvPr>
          <p:cNvSpPr>
            <a:spLocks noGrp="1"/>
          </p:cNvSpPr>
          <p:nvPr/>
        </p:nvSpPr>
        <p:spPr>
          <a:xfrm>
            <a:off x="2857500" y="2876550"/>
            <a:ext cx="1971675" cy="895350"/>
          </a:xfrm>
          <a:prstGeom prst="rect">
            <a:avLst/>
          </a:prstGeom>
          <a:solidFill>
            <a:srgbClr val="FFFFFF"/>
          </a:solidFill>
          <a:ln w="9525">
            <a:solidFill>
              <a:srgbClr val="D8E2E8"/>
            </a:solidFill>
            <a:prstDash val="solid"/>
          </a:ln>
        </p:spPr>
      </p:sp>
      <p:sp>
        <p:nvSpPr>
          <p:cNvPr id="12" name="Rectangle 11">
            <a:extLst>
              <a:ext uri="{FF2B5EF4-FFF2-40B4-BE49-F238E27FC236}">
                <a16:creationId xmlns:a16="http://schemas.microsoft.com/office/drawing/2014/main" id="{E429FA90-D8CD-411D-92B7-CB827A46EE0D}"/>
              </a:ext>
            </a:extLst>
          </p:cNvPr>
          <p:cNvSpPr>
            <a:spLocks noGrp="1"/>
          </p:cNvSpPr>
          <p:nvPr/>
        </p:nvSpPr>
        <p:spPr>
          <a:xfrm>
            <a:off x="3009900" y="3000375"/>
            <a:ext cx="1666875" cy="209550"/>
          </a:xfrm>
          <a:prstGeom prst="rect">
            <a:avLst/>
          </a:prstGeom>
          <a:noFill/>
          <a:ln w="0">
            <a:noFill/>
            <a:prstDash val="solid"/>
          </a:ln>
        </p:spPr>
        <p:txBody>
          <a:bodyPr anchor="ctr">
            <a:normAutofit fontScale="73809"/>
          </a:bodyPr>
          <a:lstStyle/>
          <a:p>
            <a:pPr algn="l">
              <a:lnSpc>
                <a:spcPct val="100000"/>
              </a:lnSpc>
              <a:buNone/>
              <a:defRPr sz="1050" b="1">
                <a:solidFill>
                  <a:srgbClr val="087F78"/>
                </a:solidFill>
                <a:latin typeface="Arial"/>
                <a:ea typeface="Arial"/>
                <a:cs typeface="Arial"/>
              </a:defRPr>
            </a:pPr>
            <a:r>
              <a:rPr sz="1050" b="1">
                <a:solidFill>
                  <a:srgbClr val="087F78"/>
                </a:solidFill>
                <a:latin typeface="Arial"/>
                <a:ea typeface="Arial"/>
                <a:cs typeface="Arial"/>
              </a:rPr>
              <a:t>REVIEW</a:t>
            </a:r>
          </a:p>
        </p:txBody>
      </p:sp>
      <p:sp>
        <p:nvSpPr>
          <p:cNvPr id="13" name="Rectangle 12">
            <a:extLst>
              <a:ext uri="{FF2B5EF4-FFF2-40B4-BE49-F238E27FC236}">
                <a16:creationId xmlns:a16="http://schemas.microsoft.com/office/drawing/2014/main" id="{7C403DA5-6B2D-4EF7-8F8F-D74767D1A7ED}"/>
              </a:ext>
            </a:extLst>
          </p:cNvPr>
          <p:cNvSpPr>
            <a:spLocks noGrp="1"/>
          </p:cNvSpPr>
          <p:nvPr/>
        </p:nvSpPr>
        <p:spPr>
          <a:xfrm>
            <a:off x="3009900" y="3267075"/>
            <a:ext cx="1666875" cy="400050"/>
          </a:xfrm>
          <a:prstGeom prst="rect">
            <a:avLst/>
          </a:prstGeom>
          <a:noFill/>
          <a:ln w="0">
            <a:noFill/>
            <a:prstDash val="solid"/>
          </a:ln>
        </p:spPr>
        <p:txBody>
          <a:bodyPr anchor="t">
            <a:normAutofit fontScale="75000"/>
          </a:bodyPr>
          <a:lstStyle/>
          <a:p>
            <a:pPr algn="l">
              <a:lnSpc>
                <a:spcPct val="100000"/>
              </a:lnSpc>
              <a:buNone/>
              <a:defRPr sz="1350" b="1">
                <a:solidFill>
                  <a:srgbClr val="183247"/>
                </a:solidFill>
                <a:latin typeface="Arial"/>
                <a:ea typeface="Arial"/>
                <a:cs typeface="Arial"/>
              </a:defRPr>
            </a:pPr>
            <a:r>
              <a:rPr sz="1350" b="1">
                <a:solidFill>
                  <a:srgbClr val="183247"/>
                </a:solidFill>
                <a:latin typeface="Arial"/>
                <a:ea typeface="Arial"/>
                <a:cs typeface="Arial"/>
              </a:rPr>
              <a:t>Eligibility and parts check</a:t>
            </a:r>
          </a:p>
        </p:txBody>
      </p:sp>
      <p:sp>
        <p:nvSpPr>
          <p:cNvPr id="14" name="Rectangle 13">
            <a:extLst>
              <a:ext uri="{FF2B5EF4-FFF2-40B4-BE49-F238E27FC236}">
                <a16:creationId xmlns:a16="http://schemas.microsoft.com/office/drawing/2014/main" id="{D57E0CCB-E034-4AF7-8EC8-A18E46BD33BE}"/>
              </a:ext>
            </a:extLst>
          </p:cNvPr>
          <p:cNvSpPr>
            <a:spLocks noGrp="1"/>
          </p:cNvSpPr>
          <p:nvPr/>
        </p:nvSpPr>
        <p:spPr>
          <a:xfrm>
            <a:off x="4857750" y="3295650"/>
            <a:ext cx="104775" cy="28575"/>
          </a:xfrm>
          <a:prstGeom prst="rect">
            <a:avLst/>
          </a:prstGeom>
          <a:solidFill>
            <a:srgbClr val="16B8A6"/>
          </a:solidFill>
          <a:ln w="0">
            <a:noFill/>
            <a:prstDash val="solid"/>
          </a:ln>
        </p:spPr>
      </p:sp>
      <p:sp>
        <p:nvSpPr>
          <p:cNvPr id="15" name="Rectangle 14">
            <a:extLst>
              <a:ext uri="{FF2B5EF4-FFF2-40B4-BE49-F238E27FC236}">
                <a16:creationId xmlns:a16="http://schemas.microsoft.com/office/drawing/2014/main" id="{9F6E4EDF-CB6C-4CD2-AB99-52E770A1DB06}"/>
              </a:ext>
            </a:extLst>
          </p:cNvPr>
          <p:cNvSpPr>
            <a:spLocks noGrp="1"/>
          </p:cNvSpPr>
          <p:nvPr/>
        </p:nvSpPr>
        <p:spPr>
          <a:xfrm>
            <a:off x="4991100" y="2876550"/>
            <a:ext cx="1971675" cy="895350"/>
          </a:xfrm>
          <a:prstGeom prst="rect">
            <a:avLst/>
          </a:prstGeom>
          <a:solidFill>
            <a:srgbClr val="12324B"/>
          </a:solidFill>
          <a:ln w="9525">
            <a:solidFill>
              <a:srgbClr val="12324B"/>
            </a:solidFill>
            <a:prstDash val="solid"/>
          </a:ln>
        </p:spPr>
      </p:sp>
      <p:sp>
        <p:nvSpPr>
          <p:cNvPr id="16" name="Rectangle 15">
            <a:extLst>
              <a:ext uri="{FF2B5EF4-FFF2-40B4-BE49-F238E27FC236}">
                <a16:creationId xmlns:a16="http://schemas.microsoft.com/office/drawing/2014/main" id="{A601C076-9E8F-4E25-BB6D-75A5E6326880}"/>
              </a:ext>
            </a:extLst>
          </p:cNvPr>
          <p:cNvSpPr>
            <a:spLocks noGrp="1"/>
          </p:cNvSpPr>
          <p:nvPr/>
        </p:nvSpPr>
        <p:spPr>
          <a:xfrm>
            <a:off x="5143500" y="3000375"/>
            <a:ext cx="1666875" cy="209550"/>
          </a:xfrm>
          <a:prstGeom prst="rect">
            <a:avLst/>
          </a:prstGeom>
          <a:noFill/>
          <a:ln w="0">
            <a:noFill/>
            <a:prstDash val="solid"/>
          </a:ln>
        </p:spPr>
        <p:txBody>
          <a:bodyPr anchor="ctr">
            <a:normAutofit fontScale="73809"/>
          </a:bodyPr>
          <a:lstStyle/>
          <a:p>
            <a:pPr algn="l">
              <a:lnSpc>
                <a:spcPct val="100000"/>
              </a:lnSpc>
              <a:buNone/>
              <a:defRPr sz="1050" b="1">
                <a:solidFill>
                  <a:srgbClr val="16B8A6"/>
                </a:solidFill>
                <a:latin typeface="Arial"/>
                <a:ea typeface="Arial"/>
                <a:cs typeface="Arial"/>
              </a:defRPr>
            </a:pPr>
            <a:r>
              <a:rPr sz="1050" b="1">
                <a:solidFill>
                  <a:srgbClr val="16B8A6"/>
                </a:solidFill>
                <a:latin typeface="Arial"/>
                <a:ea typeface="Arial"/>
                <a:cs typeface="Arial"/>
              </a:rPr>
              <a:t>ASSIGN</a:t>
            </a:r>
          </a:p>
        </p:txBody>
      </p:sp>
      <p:sp>
        <p:nvSpPr>
          <p:cNvPr id="17" name="Rectangle 16">
            <a:extLst>
              <a:ext uri="{FF2B5EF4-FFF2-40B4-BE49-F238E27FC236}">
                <a16:creationId xmlns:a16="http://schemas.microsoft.com/office/drawing/2014/main" id="{85C571AF-1F3D-4427-A64A-1F75CC7430D5}"/>
              </a:ext>
            </a:extLst>
          </p:cNvPr>
          <p:cNvSpPr>
            <a:spLocks noGrp="1"/>
          </p:cNvSpPr>
          <p:nvPr/>
        </p:nvSpPr>
        <p:spPr>
          <a:xfrm>
            <a:off x="5143500" y="3267075"/>
            <a:ext cx="1666875" cy="400050"/>
          </a:xfrm>
          <a:prstGeom prst="rect">
            <a:avLst/>
          </a:prstGeom>
          <a:noFill/>
          <a:ln w="0">
            <a:noFill/>
            <a:prstDash val="solid"/>
          </a:ln>
        </p:spPr>
        <p:txBody>
          <a:bodyPr anchor="t">
            <a:normAutofit fontScale="75000"/>
          </a:bodyPr>
          <a:lstStyle/>
          <a:p>
            <a:pPr algn="l">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Qualified local technician</a:t>
            </a:r>
          </a:p>
        </p:txBody>
      </p:sp>
      <p:sp>
        <p:nvSpPr>
          <p:cNvPr id="18" name="Rectangle 17">
            <a:extLst>
              <a:ext uri="{FF2B5EF4-FFF2-40B4-BE49-F238E27FC236}">
                <a16:creationId xmlns:a16="http://schemas.microsoft.com/office/drawing/2014/main" id="{9913C3F5-5C5E-44B5-8B51-B659E86B6AAC}"/>
              </a:ext>
            </a:extLst>
          </p:cNvPr>
          <p:cNvSpPr>
            <a:spLocks noGrp="1"/>
          </p:cNvSpPr>
          <p:nvPr/>
        </p:nvSpPr>
        <p:spPr>
          <a:xfrm>
            <a:off x="6991350" y="3295650"/>
            <a:ext cx="104775" cy="28575"/>
          </a:xfrm>
          <a:prstGeom prst="rect">
            <a:avLst/>
          </a:prstGeom>
          <a:solidFill>
            <a:srgbClr val="16B8A6"/>
          </a:solidFill>
          <a:ln w="0">
            <a:noFill/>
            <a:prstDash val="solid"/>
          </a:ln>
        </p:spPr>
      </p:sp>
      <p:sp>
        <p:nvSpPr>
          <p:cNvPr id="19" name="Rectangle 18">
            <a:extLst>
              <a:ext uri="{FF2B5EF4-FFF2-40B4-BE49-F238E27FC236}">
                <a16:creationId xmlns:a16="http://schemas.microsoft.com/office/drawing/2014/main" id="{89BCCD28-42AB-4121-A66F-893BDF05D5AA}"/>
              </a:ext>
            </a:extLst>
          </p:cNvPr>
          <p:cNvSpPr>
            <a:spLocks noGrp="1"/>
          </p:cNvSpPr>
          <p:nvPr/>
        </p:nvSpPr>
        <p:spPr>
          <a:xfrm>
            <a:off x="7124700" y="2876550"/>
            <a:ext cx="1971675" cy="895350"/>
          </a:xfrm>
          <a:prstGeom prst="rect">
            <a:avLst/>
          </a:prstGeom>
          <a:solidFill>
            <a:srgbClr val="FFFFFF"/>
          </a:solidFill>
          <a:ln w="9525">
            <a:solidFill>
              <a:srgbClr val="D8E2E8"/>
            </a:solidFill>
            <a:prstDash val="solid"/>
          </a:ln>
        </p:spPr>
      </p:sp>
      <p:sp>
        <p:nvSpPr>
          <p:cNvPr id="20" name="Rectangle 19">
            <a:extLst>
              <a:ext uri="{FF2B5EF4-FFF2-40B4-BE49-F238E27FC236}">
                <a16:creationId xmlns:a16="http://schemas.microsoft.com/office/drawing/2014/main" id="{A310452D-64A6-4B42-A2D5-273D6D5F185F}"/>
              </a:ext>
            </a:extLst>
          </p:cNvPr>
          <p:cNvSpPr>
            <a:spLocks noGrp="1"/>
          </p:cNvSpPr>
          <p:nvPr/>
        </p:nvSpPr>
        <p:spPr>
          <a:xfrm>
            <a:off x="7277100" y="3000375"/>
            <a:ext cx="1666875" cy="209550"/>
          </a:xfrm>
          <a:prstGeom prst="rect">
            <a:avLst/>
          </a:prstGeom>
          <a:noFill/>
          <a:ln w="0">
            <a:noFill/>
            <a:prstDash val="solid"/>
          </a:ln>
        </p:spPr>
        <p:txBody>
          <a:bodyPr anchor="ctr">
            <a:normAutofit fontScale="73809"/>
          </a:bodyPr>
          <a:lstStyle/>
          <a:p>
            <a:pPr algn="l">
              <a:lnSpc>
                <a:spcPct val="100000"/>
              </a:lnSpc>
              <a:buNone/>
              <a:defRPr sz="1050" b="1">
                <a:solidFill>
                  <a:srgbClr val="087F78"/>
                </a:solidFill>
                <a:latin typeface="Arial"/>
                <a:ea typeface="Arial"/>
                <a:cs typeface="Arial"/>
              </a:defRPr>
            </a:pPr>
            <a:r>
              <a:rPr sz="1050" b="1">
                <a:solidFill>
                  <a:srgbClr val="087F78"/>
                </a:solidFill>
                <a:latin typeface="Arial"/>
                <a:ea typeface="Arial"/>
                <a:cs typeface="Arial"/>
              </a:rPr>
              <a:t>EXECUTE</a:t>
            </a:r>
          </a:p>
        </p:txBody>
      </p:sp>
      <p:sp>
        <p:nvSpPr>
          <p:cNvPr id="21" name="Rectangle 20">
            <a:extLst>
              <a:ext uri="{FF2B5EF4-FFF2-40B4-BE49-F238E27FC236}">
                <a16:creationId xmlns:a16="http://schemas.microsoft.com/office/drawing/2014/main" id="{B99DCD28-6A8C-4530-A9A1-9D8F768FF648}"/>
              </a:ext>
            </a:extLst>
          </p:cNvPr>
          <p:cNvSpPr>
            <a:spLocks noGrp="1"/>
          </p:cNvSpPr>
          <p:nvPr/>
        </p:nvSpPr>
        <p:spPr>
          <a:xfrm>
            <a:off x="7277100" y="3267075"/>
            <a:ext cx="1666875" cy="400050"/>
          </a:xfrm>
          <a:prstGeom prst="rect">
            <a:avLst/>
          </a:prstGeom>
          <a:noFill/>
          <a:ln w="0">
            <a:noFill/>
            <a:prstDash val="solid"/>
          </a:ln>
        </p:spPr>
        <p:txBody>
          <a:bodyPr anchor="t">
            <a:normAutofit fontScale="75000"/>
          </a:bodyPr>
          <a:lstStyle/>
          <a:p>
            <a:pPr algn="l">
              <a:lnSpc>
                <a:spcPct val="100000"/>
              </a:lnSpc>
              <a:buNone/>
              <a:defRPr sz="1350" b="1">
                <a:solidFill>
                  <a:srgbClr val="183247"/>
                </a:solidFill>
                <a:latin typeface="Arial"/>
                <a:ea typeface="Arial"/>
                <a:cs typeface="Arial"/>
              </a:defRPr>
            </a:pPr>
            <a:r>
              <a:rPr sz="1350" b="1">
                <a:solidFill>
                  <a:srgbClr val="183247"/>
                </a:solidFill>
                <a:latin typeface="Arial"/>
                <a:ea typeface="Arial"/>
                <a:cs typeface="Arial"/>
              </a:rPr>
              <a:t>Updates, notes and evidence</a:t>
            </a:r>
          </a:p>
        </p:txBody>
      </p:sp>
      <p:sp>
        <p:nvSpPr>
          <p:cNvPr id="22" name="Rectangle 21">
            <a:extLst>
              <a:ext uri="{FF2B5EF4-FFF2-40B4-BE49-F238E27FC236}">
                <a16:creationId xmlns:a16="http://schemas.microsoft.com/office/drawing/2014/main" id="{ED3A512E-EE2E-475A-9208-5303F9BB119C}"/>
              </a:ext>
            </a:extLst>
          </p:cNvPr>
          <p:cNvSpPr>
            <a:spLocks noGrp="1"/>
          </p:cNvSpPr>
          <p:nvPr/>
        </p:nvSpPr>
        <p:spPr>
          <a:xfrm>
            <a:off x="9124950" y="3295650"/>
            <a:ext cx="104775" cy="28575"/>
          </a:xfrm>
          <a:prstGeom prst="rect">
            <a:avLst/>
          </a:prstGeom>
          <a:solidFill>
            <a:srgbClr val="16B8A6"/>
          </a:solidFill>
          <a:ln w="0">
            <a:noFill/>
            <a:prstDash val="solid"/>
          </a:ln>
        </p:spPr>
      </p:sp>
      <p:sp>
        <p:nvSpPr>
          <p:cNvPr id="23" name="Rectangle 22">
            <a:extLst>
              <a:ext uri="{FF2B5EF4-FFF2-40B4-BE49-F238E27FC236}">
                <a16:creationId xmlns:a16="http://schemas.microsoft.com/office/drawing/2014/main" id="{997FBF3D-8ED8-43CB-BC94-5222D156FAD5}"/>
              </a:ext>
            </a:extLst>
          </p:cNvPr>
          <p:cNvSpPr>
            <a:spLocks noGrp="1"/>
          </p:cNvSpPr>
          <p:nvPr/>
        </p:nvSpPr>
        <p:spPr>
          <a:xfrm>
            <a:off x="9258300" y="2876550"/>
            <a:ext cx="1971675" cy="895350"/>
          </a:xfrm>
          <a:prstGeom prst="rect">
            <a:avLst/>
          </a:prstGeom>
          <a:solidFill>
            <a:srgbClr val="FFFFFF"/>
          </a:solidFill>
          <a:ln w="9525">
            <a:solidFill>
              <a:srgbClr val="D8E2E8"/>
            </a:solidFill>
            <a:prstDash val="solid"/>
          </a:ln>
        </p:spPr>
      </p:sp>
      <p:sp>
        <p:nvSpPr>
          <p:cNvPr id="24" name="Rectangle 23">
            <a:extLst>
              <a:ext uri="{FF2B5EF4-FFF2-40B4-BE49-F238E27FC236}">
                <a16:creationId xmlns:a16="http://schemas.microsoft.com/office/drawing/2014/main" id="{6ABFAEA4-E9EE-433B-AAB0-D07AE05BDD32}"/>
              </a:ext>
            </a:extLst>
          </p:cNvPr>
          <p:cNvSpPr>
            <a:spLocks noGrp="1"/>
          </p:cNvSpPr>
          <p:nvPr/>
        </p:nvSpPr>
        <p:spPr>
          <a:xfrm>
            <a:off x="9410700" y="3000375"/>
            <a:ext cx="1666875" cy="209550"/>
          </a:xfrm>
          <a:prstGeom prst="rect">
            <a:avLst/>
          </a:prstGeom>
          <a:noFill/>
          <a:ln w="0">
            <a:noFill/>
            <a:prstDash val="solid"/>
          </a:ln>
        </p:spPr>
        <p:txBody>
          <a:bodyPr anchor="ctr">
            <a:normAutofit fontScale="73809"/>
          </a:bodyPr>
          <a:lstStyle/>
          <a:p>
            <a:pPr algn="l">
              <a:lnSpc>
                <a:spcPct val="100000"/>
              </a:lnSpc>
              <a:buNone/>
              <a:defRPr sz="1050" b="1">
                <a:solidFill>
                  <a:srgbClr val="087F78"/>
                </a:solidFill>
                <a:latin typeface="Arial"/>
                <a:ea typeface="Arial"/>
                <a:cs typeface="Arial"/>
              </a:defRPr>
            </a:pPr>
            <a:r>
              <a:rPr sz="1050" b="1">
                <a:solidFill>
                  <a:srgbClr val="087F78"/>
                </a:solidFill>
                <a:latin typeface="Arial"/>
                <a:ea typeface="Arial"/>
                <a:cs typeface="Arial"/>
              </a:rPr>
              <a:t>VERIFY</a:t>
            </a:r>
          </a:p>
        </p:txBody>
      </p:sp>
      <p:sp>
        <p:nvSpPr>
          <p:cNvPr id="25" name="Rectangle 24">
            <a:extLst>
              <a:ext uri="{FF2B5EF4-FFF2-40B4-BE49-F238E27FC236}">
                <a16:creationId xmlns:a16="http://schemas.microsoft.com/office/drawing/2014/main" id="{EF91F909-7238-4D3E-B12C-6D7DC98FC77F}"/>
              </a:ext>
            </a:extLst>
          </p:cNvPr>
          <p:cNvSpPr>
            <a:spLocks noGrp="1"/>
          </p:cNvSpPr>
          <p:nvPr/>
        </p:nvSpPr>
        <p:spPr>
          <a:xfrm>
            <a:off x="9410700" y="3267075"/>
            <a:ext cx="1666875" cy="400050"/>
          </a:xfrm>
          <a:prstGeom prst="rect">
            <a:avLst/>
          </a:prstGeom>
          <a:noFill/>
          <a:ln w="0">
            <a:noFill/>
            <a:prstDash val="solid"/>
          </a:ln>
        </p:spPr>
        <p:txBody>
          <a:bodyPr anchor="t">
            <a:normAutofit fontScale="75000"/>
          </a:bodyPr>
          <a:lstStyle/>
          <a:p>
            <a:pPr algn="l">
              <a:lnSpc>
                <a:spcPct val="100000"/>
              </a:lnSpc>
              <a:buNone/>
              <a:defRPr sz="1350" b="1">
                <a:solidFill>
                  <a:srgbClr val="183247"/>
                </a:solidFill>
                <a:latin typeface="Arial"/>
                <a:ea typeface="Arial"/>
                <a:cs typeface="Arial"/>
              </a:defRPr>
            </a:pPr>
            <a:r>
              <a:rPr sz="1350" b="1">
                <a:solidFill>
                  <a:srgbClr val="183247"/>
                </a:solidFill>
                <a:latin typeface="Arial"/>
                <a:ea typeface="Arial"/>
                <a:cs typeface="Arial"/>
              </a:rPr>
              <a:t>Completion record and history</a:t>
            </a:r>
          </a:p>
        </p:txBody>
      </p:sp>
      <p:sp>
        <p:nvSpPr>
          <p:cNvPr id="26" name="Rectangle 25">
            <a:extLst>
              <a:ext uri="{FF2B5EF4-FFF2-40B4-BE49-F238E27FC236}">
                <a16:creationId xmlns:a16="http://schemas.microsoft.com/office/drawing/2014/main" id="{0FE2C71B-B788-4592-97F2-63D6C1790E7C}"/>
              </a:ext>
            </a:extLst>
          </p:cNvPr>
          <p:cNvSpPr>
            <a:spLocks noGrp="1"/>
          </p:cNvSpPr>
          <p:nvPr/>
        </p:nvSpPr>
        <p:spPr>
          <a:xfrm>
            <a:off x="723900" y="4352925"/>
            <a:ext cx="2476500" cy="209550"/>
          </a:xfrm>
          <a:prstGeom prst="rect">
            <a:avLst/>
          </a:prstGeom>
          <a:noFill/>
          <a:ln w="0">
            <a:noFill/>
            <a:prstDash val="solid"/>
          </a:ln>
        </p:spPr>
        <p:txBody>
          <a:bodyPr anchor="ctr">
            <a:normAutofit fontScale="79487"/>
          </a:bodyPr>
          <a:lstStyle/>
          <a:p>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SHARED OPERATIONAL RECORD</a:t>
            </a:r>
          </a:p>
        </p:txBody>
      </p:sp>
      <p:sp>
        <p:nvSpPr>
          <p:cNvPr id="27" name="Rectangle 26">
            <a:extLst>
              <a:ext uri="{FF2B5EF4-FFF2-40B4-BE49-F238E27FC236}">
                <a16:creationId xmlns:a16="http://schemas.microsoft.com/office/drawing/2014/main" id="{436A43F9-A025-48E2-AE42-7374D715BBC6}"/>
              </a:ext>
            </a:extLst>
          </p:cNvPr>
          <p:cNvSpPr>
            <a:spLocks noGrp="1"/>
          </p:cNvSpPr>
          <p:nvPr/>
        </p:nvSpPr>
        <p:spPr>
          <a:xfrm>
            <a:off x="723900" y="4648200"/>
            <a:ext cx="10287000" cy="685800"/>
          </a:xfrm>
          <a:prstGeom prst="rect">
            <a:avLst/>
          </a:prstGeom>
          <a:noFill/>
          <a:ln w="0">
            <a:noFill/>
            <a:prstDash val="solid"/>
          </a:ln>
        </p:spPr>
        <p:txBody>
          <a:bodyPr anchor="t">
            <a:normAutofit/>
          </a:bodyPr>
          <a:lstStyle/>
          <a:p>
            <a:pPr algn="l">
              <a:lnSpc>
                <a:spcPct val="100000"/>
              </a:lnSpc>
              <a:buNone/>
              <a:defRPr sz="1650" b="0">
                <a:solidFill>
                  <a:srgbClr val="183247"/>
                </a:solidFill>
                <a:latin typeface="Arial"/>
                <a:ea typeface="Arial"/>
                <a:cs typeface="Arial"/>
              </a:defRPr>
            </a:pPr>
            <a:r>
              <a:rPr sz="1650" b="0">
                <a:solidFill>
                  <a:srgbClr val="183247"/>
                </a:solidFill>
                <a:latin typeface="Arial"/>
                <a:ea typeface="Arial"/>
                <a:cs typeface="Arial"/>
              </a:rPr>
              <a:t>Each request carries its machine, requester, required skills, parts, assigned technician, status, work logs and audit events.</a:t>
            </a:r>
          </a:p>
        </p:txBody>
      </p:sp>
    </p:spTree>
    <p:extLst>
      <p:ext uri="{BB962C8B-B14F-4D97-AF65-F5344CB8AC3E}">
        <p14:creationId xmlns:p14="http://schemas.microsoft.com/office/powerpoint/2010/main" val="996163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6AA968D8-DEED-4887-8F89-A00F5AC85950}"/>
              </a:ext>
            </a:extLst>
          </p:cNvPr>
          <p:cNvSpPr>
            <a:spLocks noGrp="1"/>
          </p:cNvSpPr>
          <p:nvPr/>
        </p:nvSpPr>
        <p:spPr>
          <a:xfrm>
            <a:off x="0" y="0"/>
            <a:ext cx="133350" cy="6858000"/>
          </a:xfrm>
          <a:prstGeom prst="rect">
            <a:avLst/>
          </a:prstGeom>
          <a:solidFill>
            <a:srgbClr val="16B8A6"/>
          </a:solidFill>
          <a:ln w="0">
            <a:noFill/>
            <a:prstDash val="solid"/>
          </a:ln>
        </p:spPr>
      </p:sp>
      <p:sp>
        <p:nvSpPr>
          <p:cNvPr id="2" name="Rectangle 1">
            <a:extLst>
              <a:ext uri="{FF2B5EF4-FFF2-40B4-BE49-F238E27FC236}">
                <a16:creationId xmlns:a16="http://schemas.microsoft.com/office/drawing/2014/main" id="{F9B9915B-A515-43BF-8F43-42C32517E5E4}"/>
              </a:ext>
            </a:extLst>
          </p:cNvPr>
          <p:cNvSpPr>
            <a:spLocks noGrp="1"/>
          </p:cNvSpPr>
          <p:nvPr/>
        </p:nvSpPr>
        <p:spPr>
          <a:xfrm>
            <a:off x="666750" y="304800"/>
            <a:ext cx="6667500" cy="247650"/>
          </a:xfrm>
          <a:prstGeom prst="rect">
            <a:avLst/>
          </a:prstGeom>
          <a:noFill/>
          <a:ln w="0">
            <a:noFill/>
            <a:prstDash val="solid"/>
          </a:ln>
        </p:spPr>
        <p:txBody>
          <a:bodyPr anchor="ctr">
            <a:normAutofit fontScale="97619"/>
          </a:bodyPr>
          <a:lstStyle/>
          <a:p>
            <a:pPr algn="l">
              <a:lnSpc>
                <a:spcPct val="100000"/>
              </a:lnSpc>
              <a:buNone/>
              <a:defRPr sz="1050" b="1">
                <a:solidFill>
                  <a:srgbClr val="087F78"/>
                </a:solidFill>
                <a:latin typeface="Arial"/>
                <a:ea typeface="Arial"/>
                <a:cs typeface="Arial"/>
              </a:defRPr>
            </a:pPr>
            <a:r>
              <a:rPr sz="1050" b="1">
                <a:solidFill>
                  <a:srgbClr val="087F78"/>
                </a:solidFill>
                <a:latin typeface="Arial"/>
                <a:ea typeface="Arial"/>
                <a:cs typeface="Arial"/>
              </a:rPr>
              <a:t>REQUEST WORKFLOW</a:t>
            </a:r>
          </a:p>
        </p:txBody>
      </p:sp>
      <p:sp>
        <p:nvSpPr>
          <p:cNvPr id="3" name="Rectangle 2">
            <a:extLst>
              <a:ext uri="{FF2B5EF4-FFF2-40B4-BE49-F238E27FC236}">
                <a16:creationId xmlns:a16="http://schemas.microsoft.com/office/drawing/2014/main" id="{ACB68E2D-FCD7-4E2E-A043-605B3DA57ECE}"/>
              </a:ext>
            </a:extLst>
          </p:cNvPr>
          <p:cNvSpPr>
            <a:spLocks noGrp="1"/>
          </p:cNvSpPr>
          <p:nvPr/>
        </p:nvSpPr>
        <p:spPr>
          <a:xfrm>
            <a:off x="666750" y="647700"/>
            <a:ext cx="10763250" cy="685800"/>
          </a:xfrm>
          <a:prstGeom prst="rect">
            <a:avLst/>
          </a:prstGeom>
          <a:noFill/>
          <a:ln w="0">
            <a:noFill/>
            <a:prstDash val="solid"/>
          </a:ln>
        </p:spPr>
        <p:txBody>
          <a:bodyPr anchor="ctr">
            <a:normAutofit/>
          </a:bodyPr>
          <a:lstStyle/>
          <a:p>
            <a:pPr algn="l">
              <a:lnSpc>
                <a:spcPct val="100000"/>
              </a:lnSpc>
              <a:buNone/>
              <a:defRPr sz="3600" b="1">
                <a:solidFill>
                  <a:srgbClr val="0B1F33"/>
                </a:solidFill>
                <a:latin typeface="Arial"/>
                <a:ea typeface="Arial"/>
                <a:cs typeface="Arial"/>
              </a:defRPr>
            </a:pPr>
            <a:r>
              <a:rPr sz="3600" b="1">
                <a:solidFill>
                  <a:srgbClr val="0B1F33"/>
                </a:solidFill>
                <a:latin typeface="Arial"/>
                <a:ea typeface="Arial"/>
                <a:cs typeface="Arial"/>
              </a:rPr>
              <a:t>A controlled lifecycle keeps work moving</a:t>
            </a:r>
          </a:p>
        </p:txBody>
      </p:sp>
      <p:sp>
        <p:nvSpPr>
          <p:cNvPr id="4" name="Rectangle 3">
            <a:extLst>
              <a:ext uri="{FF2B5EF4-FFF2-40B4-BE49-F238E27FC236}">
                <a16:creationId xmlns:a16="http://schemas.microsoft.com/office/drawing/2014/main" id="{4538F1F7-69BC-40F8-9D04-A88A88B7E17E}"/>
              </a:ext>
            </a:extLst>
          </p:cNvPr>
          <p:cNvSpPr>
            <a:spLocks noGrp="1"/>
          </p:cNvSpPr>
          <p:nvPr/>
        </p:nvSpPr>
        <p:spPr>
          <a:xfrm>
            <a:off x="666750" y="6267450"/>
            <a:ext cx="10858500" cy="9525"/>
          </a:xfrm>
          <a:prstGeom prst="rect">
            <a:avLst/>
          </a:prstGeom>
          <a:solidFill>
            <a:srgbClr val="D8E2E8"/>
          </a:solidFill>
          <a:ln w="0">
            <a:noFill/>
            <a:prstDash val="solid"/>
          </a:ln>
        </p:spPr>
      </p:sp>
      <p:sp>
        <p:nvSpPr>
          <p:cNvPr id="5" name="Rectangle 4">
            <a:extLst>
              <a:ext uri="{FF2B5EF4-FFF2-40B4-BE49-F238E27FC236}">
                <a16:creationId xmlns:a16="http://schemas.microsoft.com/office/drawing/2014/main" id="{1E20A843-E429-4230-B387-E6E32E2AD224}"/>
              </a:ext>
            </a:extLst>
          </p:cNvPr>
          <p:cNvSpPr>
            <a:spLocks noGrp="1"/>
          </p:cNvSpPr>
          <p:nvPr/>
        </p:nvSpPr>
        <p:spPr>
          <a:xfrm>
            <a:off x="666750" y="6343650"/>
            <a:ext cx="8572500" cy="209550"/>
          </a:xfrm>
          <a:prstGeom prst="rect">
            <a:avLst/>
          </a:prstGeom>
          <a:noFill/>
          <a:ln w="0">
            <a:noFill/>
            <a:prstDash val="solid"/>
          </a:ln>
        </p:spPr>
        <p:txBody>
          <a:bodyPr anchor="ctr">
            <a:normAutofit fontScale="86111"/>
          </a:bodyPr>
          <a:lstStyle/>
          <a:p>
            <a:pPr algn="l">
              <a:lnSpc>
                <a:spcPct val="100000"/>
              </a:lnSpc>
              <a:buNone/>
              <a:defRPr sz="900" b="1">
                <a:solidFill>
                  <a:srgbClr val="597083"/>
                </a:solidFill>
                <a:latin typeface="Arial"/>
                <a:ea typeface="Arial"/>
                <a:cs typeface="Arial"/>
              </a:defRPr>
            </a:pPr>
            <a:r>
              <a:rPr sz="900" b="1">
                <a:solidFill>
                  <a:srgbClr val="597083"/>
                </a:solidFill>
                <a:latin typeface="Arial"/>
                <a:ea typeface="Arial"/>
                <a:cs typeface="Arial"/>
              </a:rPr>
              <a:t>DATAQUEST 3.0  /  DURANTHAM</a:t>
            </a:r>
          </a:p>
        </p:txBody>
      </p:sp>
      <p:sp>
        <p:nvSpPr>
          <p:cNvPr id="6" name="Rectangle 5">
            <a:extLst>
              <a:ext uri="{FF2B5EF4-FFF2-40B4-BE49-F238E27FC236}">
                <a16:creationId xmlns:a16="http://schemas.microsoft.com/office/drawing/2014/main" id="{7FAC31C2-710D-4B27-8C0F-2CAE912C362B}"/>
              </a:ext>
            </a:extLst>
          </p:cNvPr>
          <p:cNvSpPr>
            <a:spLocks noGrp="1"/>
          </p:cNvSpPr>
          <p:nvPr/>
        </p:nvSpPr>
        <p:spPr>
          <a:xfrm>
            <a:off x="704850" y="2133600"/>
            <a:ext cx="1952625" cy="895350"/>
          </a:xfrm>
          <a:prstGeom prst="rect">
            <a:avLst/>
          </a:prstGeom>
          <a:solidFill>
            <a:srgbClr val="FFFFFF"/>
          </a:solidFill>
          <a:ln w="9525">
            <a:solidFill>
              <a:srgbClr val="D8E2E8"/>
            </a:solidFill>
            <a:prstDash val="solid"/>
          </a:ln>
        </p:spPr>
      </p:sp>
      <p:sp>
        <p:nvSpPr>
          <p:cNvPr id="7" name="Rectangle 6">
            <a:extLst>
              <a:ext uri="{FF2B5EF4-FFF2-40B4-BE49-F238E27FC236}">
                <a16:creationId xmlns:a16="http://schemas.microsoft.com/office/drawing/2014/main" id="{61C46AA7-52E5-4C08-8A1E-95C4904962E4}"/>
              </a:ext>
            </a:extLst>
          </p:cNvPr>
          <p:cNvSpPr>
            <a:spLocks noGrp="1"/>
          </p:cNvSpPr>
          <p:nvPr/>
        </p:nvSpPr>
        <p:spPr>
          <a:xfrm>
            <a:off x="838200" y="2266950"/>
            <a:ext cx="1685925" cy="228600"/>
          </a:xfrm>
          <a:prstGeom prst="rect">
            <a:avLst/>
          </a:prstGeom>
          <a:noFill/>
          <a:ln w="0">
            <a:noFill/>
            <a:prstDash val="solid"/>
          </a:ln>
        </p:spPr>
        <p:txBody>
          <a:bodyPr anchor="ctr">
            <a:normAutofit fontScale="80000"/>
          </a:bodyPr>
          <a:lstStyle/>
          <a:p>
            <a:pPr algn="l">
              <a:lnSpc>
                <a:spcPct val="100000"/>
              </a:lnSpc>
              <a:buNone/>
              <a:defRPr sz="1125" b="1">
                <a:solidFill>
                  <a:srgbClr val="087F78"/>
                </a:solidFill>
                <a:latin typeface="Arial"/>
                <a:ea typeface="Arial"/>
                <a:cs typeface="Arial"/>
              </a:defRPr>
            </a:pPr>
            <a:r>
              <a:rPr sz="1125" b="1">
                <a:solidFill>
                  <a:srgbClr val="087F78"/>
                </a:solidFill>
                <a:latin typeface="Arial"/>
                <a:ea typeface="Arial"/>
                <a:cs typeface="Arial"/>
              </a:rPr>
              <a:t>PENDING</a:t>
            </a:r>
          </a:p>
        </p:txBody>
      </p:sp>
      <p:sp>
        <p:nvSpPr>
          <p:cNvPr id="8" name="Rectangle 7">
            <a:extLst>
              <a:ext uri="{FF2B5EF4-FFF2-40B4-BE49-F238E27FC236}">
                <a16:creationId xmlns:a16="http://schemas.microsoft.com/office/drawing/2014/main" id="{33D0B85F-E2DF-4004-AD3D-630F953DFF30}"/>
              </a:ext>
            </a:extLst>
          </p:cNvPr>
          <p:cNvSpPr>
            <a:spLocks noGrp="1"/>
          </p:cNvSpPr>
          <p:nvPr/>
        </p:nvSpPr>
        <p:spPr>
          <a:xfrm>
            <a:off x="838200" y="2571750"/>
            <a:ext cx="1685925" cy="323850"/>
          </a:xfrm>
          <a:prstGeom prst="rect">
            <a:avLst/>
          </a:prstGeom>
          <a:noFill/>
          <a:ln w="0">
            <a:noFill/>
            <a:prstDash val="solid"/>
          </a:ln>
        </p:spPr>
        <p:txBody>
          <a:bodyPr anchor="t">
            <a:normAutofit/>
          </a:bodyPr>
          <a:lstStyle/>
          <a:p>
            <a:pPr algn="l">
              <a:lnSpc>
                <a:spcPct val="100000"/>
              </a:lnSpc>
              <a:buNone/>
              <a:defRPr sz="1275" b="1">
                <a:solidFill>
                  <a:srgbClr val="183247"/>
                </a:solidFill>
                <a:latin typeface="Arial"/>
                <a:ea typeface="Arial"/>
                <a:cs typeface="Arial"/>
              </a:defRPr>
            </a:pPr>
            <a:r>
              <a:rPr sz="1275" b="1">
                <a:solidFill>
                  <a:srgbClr val="183247"/>
                </a:solidFill>
                <a:latin typeface="Arial"/>
                <a:ea typeface="Arial"/>
                <a:cs typeface="Arial"/>
              </a:rPr>
              <a:t>Request created</a:t>
            </a:r>
          </a:p>
        </p:txBody>
      </p:sp>
      <p:sp>
        <p:nvSpPr>
          <p:cNvPr id="9" name="Rectangle 8">
            <a:extLst>
              <a:ext uri="{FF2B5EF4-FFF2-40B4-BE49-F238E27FC236}">
                <a16:creationId xmlns:a16="http://schemas.microsoft.com/office/drawing/2014/main" id="{73EC8A20-804F-49D9-BD43-7A812A35DA9D}"/>
              </a:ext>
            </a:extLst>
          </p:cNvPr>
          <p:cNvSpPr>
            <a:spLocks noGrp="1"/>
          </p:cNvSpPr>
          <p:nvPr/>
        </p:nvSpPr>
        <p:spPr>
          <a:xfrm>
            <a:off x="2733675" y="2562225"/>
            <a:ext cx="219075" cy="28575"/>
          </a:xfrm>
          <a:prstGeom prst="rect">
            <a:avLst/>
          </a:prstGeom>
          <a:solidFill>
            <a:srgbClr val="16B8A6"/>
          </a:solidFill>
          <a:ln w="0">
            <a:noFill/>
            <a:prstDash val="solid"/>
          </a:ln>
        </p:spPr>
      </p:sp>
      <p:sp>
        <p:nvSpPr>
          <p:cNvPr id="10" name="Rectangle 9">
            <a:extLst>
              <a:ext uri="{FF2B5EF4-FFF2-40B4-BE49-F238E27FC236}">
                <a16:creationId xmlns:a16="http://schemas.microsoft.com/office/drawing/2014/main" id="{0BE18994-C635-4AA6-9E7A-7DF368BDF15A}"/>
              </a:ext>
            </a:extLst>
          </p:cNvPr>
          <p:cNvSpPr>
            <a:spLocks noGrp="1"/>
          </p:cNvSpPr>
          <p:nvPr/>
        </p:nvSpPr>
        <p:spPr>
          <a:xfrm>
            <a:off x="3028950" y="2133600"/>
            <a:ext cx="1952625" cy="895350"/>
          </a:xfrm>
          <a:prstGeom prst="rect">
            <a:avLst/>
          </a:prstGeom>
          <a:solidFill>
            <a:srgbClr val="FFFFFF"/>
          </a:solidFill>
          <a:ln w="9525">
            <a:solidFill>
              <a:srgbClr val="D8E2E8"/>
            </a:solidFill>
            <a:prstDash val="solid"/>
          </a:ln>
        </p:spPr>
      </p:sp>
      <p:sp>
        <p:nvSpPr>
          <p:cNvPr id="11" name="Rectangle 10">
            <a:extLst>
              <a:ext uri="{FF2B5EF4-FFF2-40B4-BE49-F238E27FC236}">
                <a16:creationId xmlns:a16="http://schemas.microsoft.com/office/drawing/2014/main" id="{F37CC13E-6EEE-4E10-9C5F-905A88D2BFE7}"/>
              </a:ext>
            </a:extLst>
          </p:cNvPr>
          <p:cNvSpPr>
            <a:spLocks noGrp="1"/>
          </p:cNvSpPr>
          <p:nvPr/>
        </p:nvSpPr>
        <p:spPr>
          <a:xfrm>
            <a:off x="3162300" y="2266950"/>
            <a:ext cx="1685925" cy="228600"/>
          </a:xfrm>
          <a:prstGeom prst="rect">
            <a:avLst/>
          </a:prstGeom>
          <a:noFill/>
          <a:ln w="0">
            <a:noFill/>
            <a:prstDash val="solid"/>
          </a:ln>
        </p:spPr>
        <p:txBody>
          <a:bodyPr anchor="ctr">
            <a:normAutofit fontScale="80000"/>
          </a:bodyPr>
          <a:lstStyle/>
          <a:p>
            <a:pPr algn="l">
              <a:lnSpc>
                <a:spcPct val="100000"/>
              </a:lnSpc>
              <a:buNone/>
              <a:defRPr sz="1125" b="1">
                <a:solidFill>
                  <a:srgbClr val="087F78"/>
                </a:solidFill>
                <a:latin typeface="Arial"/>
                <a:ea typeface="Arial"/>
                <a:cs typeface="Arial"/>
              </a:defRPr>
            </a:pPr>
            <a:r>
              <a:rPr sz="1125" b="1">
                <a:solidFill>
                  <a:srgbClr val="087F78"/>
                </a:solidFill>
                <a:latin typeface="Arial"/>
                <a:ea typeface="Arial"/>
                <a:cs typeface="Arial"/>
              </a:rPr>
              <a:t>APPROVED</a:t>
            </a:r>
          </a:p>
        </p:txBody>
      </p:sp>
      <p:sp>
        <p:nvSpPr>
          <p:cNvPr id="12" name="Rectangle 11">
            <a:extLst>
              <a:ext uri="{FF2B5EF4-FFF2-40B4-BE49-F238E27FC236}">
                <a16:creationId xmlns:a16="http://schemas.microsoft.com/office/drawing/2014/main" id="{ADB18A3F-D8EF-4491-8C23-3A9B83A465B9}"/>
              </a:ext>
            </a:extLst>
          </p:cNvPr>
          <p:cNvSpPr>
            <a:spLocks noGrp="1"/>
          </p:cNvSpPr>
          <p:nvPr/>
        </p:nvSpPr>
        <p:spPr>
          <a:xfrm>
            <a:off x="3162300" y="2571750"/>
            <a:ext cx="1685925" cy="323850"/>
          </a:xfrm>
          <a:prstGeom prst="rect">
            <a:avLst/>
          </a:prstGeom>
          <a:noFill/>
          <a:ln w="0">
            <a:noFill/>
            <a:prstDash val="solid"/>
          </a:ln>
        </p:spPr>
        <p:txBody>
          <a:bodyPr anchor="t">
            <a:normAutofit fontScale="95632"/>
          </a:bodyPr>
          <a:lstStyle/>
          <a:p>
            <a:pPr algn="l">
              <a:lnSpc>
                <a:spcPct val="100000"/>
              </a:lnSpc>
              <a:buNone/>
              <a:defRPr sz="1275" b="1">
                <a:solidFill>
                  <a:srgbClr val="183247"/>
                </a:solidFill>
                <a:latin typeface="Arial"/>
                <a:ea typeface="Arial"/>
                <a:cs typeface="Arial"/>
              </a:defRPr>
            </a:pPr>
            <a:r>
              <a:rPr sz="1275" b="1">
                <a:solidFill>
                  <a:srgbClr val="183247"/>
                </a:solidFill>
                <a:latin typeface="Arial"/>
                <a:ea typeface="Arial"/>
                <a:cs typeface="Arial"/>
              </a:rPr>
              <a:t>Dispatcher validates</a:t>
            </a:r>
          </a:p>
        </p:txBody>
      </p:sp>
      <p:sp>
        <p:nvSpPr>
          <p:cNvPr id="13" name="Rectangle 12">
            <a:extLst>
              <a:ext uri="{FF2B5EF4-FFF2-40B4-BE49-F238E27FC236}">
                <a16:creationId xmlns:a16="http://schemas.microsoft.com/office/drawing/2014/main" id="{18E6A044-8914-4F6C-99A0-66F7EF5CD5F0}"/>
              </a:ext>
            </a:extLst>
          </p:cNvPr>
          <p:cNvSpPr>
            <a:spLocks noGrp="1"/>
          </p:cNvSpPr>
          <p:nvPr/>
        </p:nvSpPr>
        <p:spPr>
          <a:xfrm>
            <a:off x="5057775" y="2562225"/>
            <a:ext cx="219075" cy="28575"/>
          </a:xfrm>
          <a:prstGeom prst="rect">
            <a:avLst/>
          </a:prstGeom>
          <a:solidFill>
            <a:srgbClr val="16B8A6"/>
          </a:solidFill>
          <a:ln w="0">
            <a:noFill/>
            <a:prstDash val="solid"/>
          </a:ln>
        </p:spPr>
      </p:sp>
      <p:sp>
        <p:nvSpPr>
          <p:cNvPr id="14" name="Rectangle 13">
            <a:extLst>
              <a:ext uri="{FF2B5EF4-FFF2-40B4-BE49-F238E27FC236}">
                <a16:creationId xmlns:a16="http://schemas.microsoft.com/office/drawing/2014/main" id="{257EA1EA-BCAA-49DE-B4FD-1813A213CCCF}"/>
              </a:ext>
            </a:extLst>
          </p:cNvPr>
          <p:cNvSpPr>
            <a:spLocks noGrp="1"/>
          </p:cNvSpPr>
          <p:nvPr/>
        </p:nvSpPr>
        <p:spPr>
          <a:xfrm>
            <a:off x="5353050" y="2133600"/>
            <a:ext cx="1952625" cy="895350"/>
          </a:xfrm>
          <a:prstGeom prst="rect">
            <a:avLst/>
          </a:prstGeom>
          <a:solidFill>
            <a:srgbClr val="FFFFFF"/>
          </a:solidFill>
          <a:ln w="9525">
            <a:solidFill>
              <a:srgbClr val="D8E2E8"/>
            </a:solidFill>
            <a:prstDash val="solid"/>
          </a:ln>
        </p:spPr>
      </p:sp>
      <p:sp>
        <p:nvSpPr>
          <p:cNvPr id="15" name="Rectangle 14">
            <a:extLst>
              <a:ext uri="{FF2B5EF4-FFF2-40B4-BE49-F238E27FC236}">
                <a16:creationId xmlns:a16="http://schemas.microsoft.com/office/drawing/2014/main" id="{5DDDE2EF-8A11-4678-9296-02594FF0D927}"/>
              </a:ext>
            </a:extLst>
          </p:cNvPr>
          <p:cNvSpPr>
            <a:spLocks noGrp="1"/>
          </p:cNvSpPr>
          <p:nvPr/>
        </p:nvSpPr>
        <p:spPr>
          <a:xfrm>
            <a:off x="5486400" y="2266950"/>
            <a:ext cx="1685925" cy="228600"/>
          </a:xfrm>
          <a:prstGeom prst="rect">
            <a:avLst/>
          </a:prstGeom>
          <a:noFill/>
          <a:ln w="0">
            <a:noFill/>
            <a:prstDash val="solid"/>
          </a:ln>
        </p:spPr>
        <p:txBody>
          <a:bodyPr anchor="ctr">
            <a:normAutofit fontScale="80000"/>
          </a:bodyPr>
          <a:lstStyle/>
          <a:p>
            <a:pPr algn="l">
              <a:lnSpc>
                <a:spcPct val="100000"/>
              </a:lnSpc>
              <a:buNone/>
              <a:defRPr sz="1125" b="1">
                <a:solidFill>
                  <a:srgbClr val="087F78"/>
                </a:solidFill>
                <a:latin typeface="Arial"/>
                <a:ea typeface="Arial"/>
                <a:cs typeface="Arial"/>
              </a:defRPr>
            </a:pPr>
            <a:r>
              <a:rPr sz="1125" b="1">
                <a:solidFill>
                  <a:srgbClr val="087F78"/>
                </a:solidFill>
                <a:latin typeface="Arial"/>
                <a:ea typeface="Arial"/>
                <a:cs typeface="Arial"/>
              </a:rPr>
              <a:t>ASSIGNED</a:t>
            </a:r>
          </a:p>
        </p:txBody>
      </p:sp>
      <p:sp>
        <p:nvSpPr>
          <p:cNvPr id="16" name="Rectangle 15">
            <a:extLst>
              <a:ext uri="{FF2B5EF4-FFF2-40B4-BE49-F238E27FC236}">
                <a16:creationId xmlns:a16="http://schemas.microsoft.com/office/drawing/2014/main" id="{A004C10F-9268-48D7-B750-FAFE46755363}"/>
              </a:ext>
            </a:extLst>
          </p:cNvPr>
          <p:cNvSpPr>
            <a:spLocks noGrp="1"/>
          </p:cNvSpPr>
          <p:nvPr/>
        </p:nvSpPr>
        <p:spPr>
          <a:xfrm>
            <a:off x="5486400" y="2571750"/>
            <a:ext cx="1685925" cy="323850"/>
          </a:xfrm>
          <a:prstGeom prst="rect">
            <a:avLst/>
          </a:prstGeom>
          <a:noFill/>
          <a:ln w="0">
            <a:noFill/>
            <a:prstDash val="solid"/>
          </a:ln>
        </p:spPr>
        <p:txBody>
          <a:bodyPr anchor="t">
            <a:normAutofit fontScale="97809"/>
          </a:bodyPr>
          <a:lstStyle/>
          <a:p>
            <a:pPr algn="l">
              <a:lnSpc>
                <a:spcPct val="100000"/>
              </a:lnSpc>
              <a:buNone/>
              <a:defRPr sz="1275" b="1">
                <a:solidFill>
                  <a:srgbClr val="183247"/>
                </a:solidFill>
                <a:latin typeface="Arial"/>
                <a:ea typeface="Arial"/>
                <a:cs typeface="Arial"/>
              </a:defRPr>
            </a:pPr>
            <a:r>
              <a:rPr sz="1275" b="1">
                <a:solidFill>
                  <a:srgbClr val="183247"/>
                </a:solidFill>
                <a:latin typeface="Arial"/>
                <a:ea typeface="Arial"/>
                <a:cs typeface="Arial"/>
              </a:rPr>
              <a:t>Technician selected</a:t>
            </a:r>
          </a:p>
        </p:txBody>
      </p:sp>
      <p:sp>
        <p:nvSpPr>
          <p:cNvPr id="17" name="Rectangle 16">
            <a:extLst>
              <a:ext uri="{FF2B5EF4-FFF2-40B4-BE49-F238E27FC236}">
                <a16:creationId xmlns:a16="http://schemas.microsoft.com/office/drawing/2014/main" id="{52B83B00-92BD-43D8-82EF-9833CE5516B0}"/>
              </a:ext>
            </a:extLst>
          </p:cNvPr>
          <p:cNvSpPr>
            <a:spLocks noGrp="1"/>
          </p:cNvSpPr>
          <p:nvPr/>
        </p:nvSpPr>
        <p:spPr>
          <a:xfrm>
            <a:off x="7381875" y="2562225"/>
            <a:ext cx="219075" cy="28575"/>
          </a:xfrm>
          <a:prstGeom prst="rect">
            <a:avLst/>
          </a:prstGeom>
          <a:solidFill>
            <a:srgbClr val="16B8A6"/>
          </a:solidFill>
          <a:ln w="0">
            <a:noFill/>
            <a:prstDash val="solid"/>
          </a:ln>
        </p:spPr>
      </p:sp>
      <p:sp>
        <p:nvSpPr>
          <p:cNvPr id="18" name="Rectangle 17">
            <a:extLst>
              <a:ext uri="{FF2B5EF4-FFF2-40B4-BE49-F238E27FC236}">
                <a16:creationId xmlns:a16="http://schemas.microsoft.com/office/drawing/2014/main" id="{78966090-6585-4C1A-9A32-4450A9A6BDC2}"/>
              </a:ext>
            </a:extLst>
          </p:cNvPr>
          <p:cNvSpPr>
            <a:spLocks noGrp="1"/>
          </p:cNvSpPr>
          <p:nvPr/>
        </p:nvSpPr>
        <p:spPr>
          <a:xfrm>
            <a:off x="7677150" y="2133600"/>
            <a:ext cx="1952625" cy="895350"/>
          </a:xfrm>
          <a:prstGeom prst="rect">
            <a:avLst/>
          </a:prstGeom>
          <a:solidFill>
            <a:srgbClr val="FFFFFF"/>
          </a:solidFill>
          <a:ln w="9525">
            <a:solidFill>
              <a:srgbClr val="D8E2E8"/>
            </a:solidFill>
            <a:prstDash val="solid"/>
          </a:ln>
        </p:spPr>
      </p:sp>
      <p:sp>
        <p:nvSpPr>
          <p:cNvPr id="19" name="Rectangle 18">
            <a:extLst>
              <a:ext uri="{FF2B5EF4-FFF2-40B4-BE49-F238E27FC236}">
                <a16:creationId xmlns:a16="http://schemas.microsoft.com/office/drawing/2014/main" id="{58DF8434-EFA2-4537-A6D8-FC6BFC7D55D2}"/>
              </a:ext>
            </a:extLst>
          </p:cNvPr>
          <p:cNvSpPr>
            <a:spLocks noGrp="1"/>
          </p:cNvSpPr>
          <p:nvPr/>
        </p:nvSpPr>
        <p:spPr>
          <a:xfrm>
            <a:off x="7810500" y="2266950"/>
            <a:ext cx="1685925" cy="228600"/>
          </a:xfrm>
          <a:prstGeom prst="rect">
            <a:avLst/>
          </a:prstGeom>
          <a:noFill/>
          <a:ln w="0">
            <a:noFill/>
            <a:prstDash val="solid"/>
          </a:ln>
        </p:spPr>
        <p:txBody>
          <a:bodyPr anchor="ctr">
            <a:normAutofit fontScale="80000"/>
          </a:bodyPr>
          <a:lstStyle/>
          <a:p>
            <a:pPr algn="l">
              <a:lnSpc>
                <a:spcPct val="100000"/>
              </a:lnSpc>
              <a:buNone/>
              <a:defRPr sz="1125" b="1">
                <a:solidFill>
                  <a:srgbClr val="087F78"/>
                </a:solidFill>
                <a:latin typeface="Arial"/>
                <a:ea typeface="Arial"/>
                <a:cs typeface="Arial"/>
              </a:defRPr>
            </a:pPr>
            <a:r>
              <a:rPr sz="1125" b="1">
                <a:solidFill>
                  <a:srgbClr val="087F78"/>
                </a:solidFill>
                <a:latin typeface="Arial"/>
                <a:ea typeface="Arial"/>
                <a:cs typeface="Arial"/>
              </a:rPr>
              <a:t>IN PROGRESS</a:t>
            </a:r>
          </a:p>
        </p:txBody>
      </p:sp>
      <p:sp>
        <p:nvSpPr>
          <p:cNvPr id="20" name="Rectangle 19">
            <a:extLst>
              <a:ext uri="{FF2B5EF4-FFF2-40B4-BE49-F238E27FC236}">
                <a16:creationId xmlns:a16="http://schemas.microsoft.com/office/drawing/2014/main" id="{65F63298-63F0-441E-AB15-7031AD572394}"/>
              </a:ext>
            </a:extLst>
          </p:cNvPr>
          <p:cNvSpPr>
            <a:spLocks noGrp="1"/>
          </p:cNvSpPr>
          <p:nvPr/>
        </p:nvSpPr>
        <p:spPr>
          <a:xfrm>
            <a:off x="7810500" y="2571750"/>
            <a:ext cx="1685925" cy="323850"/>
          </a:xfrm>
          <a:prstGeom prst="rect">
            <a:avLst/>
          </a:prstGeom>
          <a:noFill/>
          <a:ln w="0">
            <a:noFill/>
            <a:prstDash val="solid"/>
          </a:ln>
        </p:spPr>
        <p:txBody>
          <a:bodyPr anchor="t">
            <a:normAutofit/>
          </a:bodyPr>
          <a:lstStyle/>
          <a:p>
            <a:pPr algn="l">
              <a:lnSpc>
                <a:spcPct val="100000"/>
              </a:lnSpc>
              <a:buNone/>
              <a:defRPr sz="1275" b="1">
                <a:solidFill>
                  <a:srgbClr val="183247"/>
                </a:solidFill>
                <a:latin typeface="Arial"/>
                <a:ea typeface="Arial"/>
                <a:cs typeface="Arial"/>
              </a:defRPr>
            </a:pPr>
            <a:r>
              <a:rPr sz="1275" b="1">
                <a:solidFill>
                  <a:srgbClr val="183247"/>
                </a:solidFill>
                <a:latin typeface="Arial"/>
                <a:ea typeface="Arial"/>
                <a:cs typeface="Arial"/>
              </a:rPr>
              <a:t>Field work logged</a:t>
            </a:r>
          </a:p>
        </p:txBody>
      </p:sp>
      <p:sp>
        <p:nvSpPr>
          <p:cNvPr id="21" name="Rectangle 20">
            <a:extLst>
              <a:ext uri="{FF2B5EF4-FFF2-40B4-BE49-F238E27FC236}">
                <a16:creationId xmlns:a16="http://schemas.microsoft.com/office/drawing/2014/main" id="{1527C352-72E4-429B-89B2-726E34BF9AC8}"/>
              </a:ext>
            </a:extLst>
          </p:cNvPr>
          <p:cNvSpPr>
            <a:spLocks noGrp="1"/>
          </p:cNvSpPr>
          <p:nvPr/>
        </p:nvSpPr>
        <p:spPr>
          <a:xfrm>
            <a:off x="9705975" y="2562225"/>
            <a:ext cx="219075" cy="28575"/>
          </a:xfrm>
          <a:prstGeom prst="rect">
            <a:avLst/>
          </a:prstGeom>
          <a:solidFill>
            <a:srgbClr val="16B8A6"/>
          </a:solidFill>
          <a:ln w="0">
            <a:noFill/>
            <a:prstDash val="solid"/>
          </a:ln>
        </p:spPr>
      </p:sp>
      <p:sp>
        <p:nvSpPr>
          <p:cNvPr id="22" name="Rectangle 21">
            <a:extLst>
              <a:ext uri="{FF2B5EF4-FFF2-40B4-BE49-F238E27FC236}">
                <a16:creationId xmlns:a16="http://schemas.microsoft.com/office/drawing/2014/main" id="{C29F2358-DCD0-4242-96BD-6D3DFDCCCD65}"/>
              </a:ext>
            </a:extLst>
          </p:cNvPr>
          <p:cNvSpPr>
            <a:spLocks noGrp="1"/>
          </p:cNvSpPr>
          <p:nvPr/>
        </p:nvSpPr>
        <p:spPr>
          <a:xfrm>
            <a:off x="10001250" y="2133600"/>
            <a:ext cx="1952625" cy="895350"/>
          </a:xfrm>
          <a:prstGeom prst="rect">
            <a:avLst/>
          </a:prstGeom>
          <a:solidFill>
            <a:srgbClr val="12324B"/>
          </a:solidFill>
          <a:ln w="9525">
            <a:solidFill>
              <a:srgbClr val="12324B"/>
            </a:solidFill>
            <a:prstDash val="solid"/>
          </a:ln>
        </p:spPr>
      </p:sp>
      <p:sp>
        <p:nvSpPr>
          <p:cNvPr id="23" name="Rectangle 22">
            <a:extLst>
              <a:ext uri="{FF2B5EF4-FFF2-40B4-BE49-F238E27FC236}">
                <a16:creationId xmlns:a16="http://schemas.microsoft.com/office/drawing/2014/main" id="{4FC1524A-BFF3-4D30-A595-2E5B83D96370}"/>
              </a:ext>
            </a:extLst>
          </p:cNvPr>
          <p:cNvSpPr>
            <a:spLocks noGrp="1"/>
          </p:cNvSpPr>
          <p:nvPr/>
        </p:nvSpPr>
        <p:spPr>
          <a:xfrm>
            <a:off x="10134600" y="2266950"/>
            <a:ext cx="1685925" cy="228600"/>
          </a:xfrm>
          <a:prstGeom prst="rect">
            <a:avLst/>
          </a:prstGeom>
          <a:noFill/>
          <a:ln w="0">
            <a:noFill/>
            <a:prstDash val="solid"/>
          </a:ln>
        </p:spPr>
        <p:txBody>
          <a:bodyPr anchor="ctr">
            <a:normAutofit fontScale="80000"/>
          </a:bodyPr>
          <a:lstStyle/>
          <a:p>
            <a:pPr algn="l">
              <a:lnSpc>
                <a:spcPct val="100000"/>
              </a:lnSpc>
              <a:buNone/>
              <a:defRPr sz="1125" b="1">
                <a:solidFill>
                  <a:srgbClr val="16B8A6"/>
                </a:solidFill>
                <a:latin typeface="Arial"/>
                <a:ea typeface="Arial"/>
                <a:cs typeface="Arial"/>
              </a:defRPr>
            </a:pPr>
            <a:r>
              <a:rPr sz="1125" b="1">
                <a:solidFill>
                  <a:srgbClr val="16B8A6"/>
                </a:solidFill>
                <a:latin typeface="Arial"/>
                <a:ea typeface="Arial"/>
                <a:cs typeface="Arial"/>
              </a:rPr>
              <a:t>COMPLETED</a:t>
            </a:r>
          </a:p>
        </p:txBody>
      </p:sp>
      <p:sp>
        <p:nvSpPr>
          <p:cNvPr id="24" name="Rectangle 23">
            <a:extLst>
              <a:ext uri="{FF2B5EF4-FFF2-40B4-BE49-F238E27FC236}">
                <a16:creationId xmlns:a16="http://schemas.microsoft.com/office/drawing/2014/main" id="{6442EF4A-AEA4-4D09-8A25-57C0820F755B}"/>
              </a:ext>
            </a:extLst>
          </p:cNvPr>
          <p:cNvSpPr>
            <a:spLocks noGrp="1"/>
          </p:cNvSpPr>
          <p:nvPr/>
        </p:nvSpPr>
        <p:spPr>
          <a:xfrm>
            <a:off x="10134600" y="2571750"/>
            <a:ext cx="1685925" cy="323850"/>
          </a:xfrm>
          <a:prstGeom prst="rect">
            <a:avLst/>
          </a:prstGeom>
          <a:noFill/>
          <a:ln w="0">
            <a:noFill/>
            <a:prstDash val="solid"/>
          </a:ln>
        </p:spPr>
        <p:txBody>
          <a:bodyPr anchor="t">
            <a:normAutofit/>
          </a:bodyPr>
          <a:lstStyle/>
          <a:p>
            <a:pPr algn="l">
              <a:lnSpc>
                <a:spcPct val="100000"/>
              </a:lnSpc>
              <a:buNone/>
              <a:defRPr sz="1275" b="1">
                <a:solidFill>
                  <a:srgbClr val="FFFFFF"/>
                </a:solidFill>
                <a:latin typeface="Arial"/>
                <a:ea typeface="Arial"/>
                <a:cs typeface="Arial"/>
              </a:defRPr>
            </a:pPr>
            <a:r>
              <a:rPr sz="1275" b="1">
                <a:solidFill>
                  <a:srgbClr val="FFFFFF"/>
                </a:solidFill>
                <a:latin typeface="Arial"/>
                <a:ea typeface="Arial"/>
                <a:cs typeface="Arial"/>
              </a:rPr>
              <a:t>Verification entered</a:t>
            </a:r>
          </a:p>
        </p:txBody>
      </p:sp>
      <p:sp>
        <p:nvSpPr>
          <p:cNvPr id="25" name="Rectangle 24">
            <a:extLst>
              <a:ext uri="{FF2B5EF4-FFF2-40B4-BE49-F238E27FC236}">
                <a16:creationId xmlns:a16="http://schemas.microsoft.com/office/drawing/2014/main" id="{B2884237-8CA7-4EDE-BE86-C842041BCFB8}"/>
              </a:ext>
            </a:extLst>
          </p:cNvPr>
          <p:cNvSpPr>
            <a:spLocks noGrp="1"/>
          </p:cNvSpPr>
          <p:nvPr/>
        </p:nvSpPr>
        <p:spPr>
          <a:xfrm>
            <a:off x="723900" y="3552825"/>
            <a:ext cx="2095500" cy="209550"/>
          </a:xfrm>
          <a:prstGeom prst="rect">
            <a:avLst/>
          </a:prstGeom>
          <a:noFill/>
          <a:ln w="0">
            <a:noFill/>
            <a:prstDash val="solid"/>
          </a:ln>
        </p:spPr>
        <p:txBody>
          <a:bodyPr anchor="ctr">
            <a:normAutofit fontScale="79487"/>
          </a:bodyPr>
          <a:lstStyle/>
          <a:p>
            <a:pPr algn="l">
              <a:lnSpc>
                <a:spcPct val="100000"/>
              </a:lnSpc>
              <a:buNone/>
              <a:defRPr sz="975" b="1">
                <a:solidFill>
                  <a:srgbClr val="C95058"/>
                </a:solidFill>
                <a:latin typeface="Arial"/>
                <a:ea typeface="Arial"/>
                <a:cs typeface="Arial"/>
              </a:defRPr>
            </a:pPr>
            <a:r>
              <a:rPr sz="975" b="1">
                <a:solidFill>
                  <a:srgbClr val="C95058"/>
                </a:solidFill>
                <a:latin typeface="Arial"/>
                <a:ea typeface="Arial"/>
                <a:cs typeface="Arial"/>
              </a:rPr>
              <a:t>EXCEPTION PATH</a:t>
            </a:r>
          </a:p>
        </p:txBody>
      </p:sp>
      <p:sp>
        <p:nvSpPr>
          <p:cNvPr id="26" name="Rectangle 25">
            <a:extLst>
              <a:ext uri="{FF2B5EF4-FFF2-40B4-BE49-F238E27FC236}">
                <a16:creationId xmlns:a16="http://schemas.microsoft.com/office/drawing/2014/main" id="{9C5F30AA-9AA7-446F-89ED-65A4B048B9C8}"/>
              </a:ext>
            </a:extLst>
          </p:cNvPr>
          <p:cNvSpPr>
            <a:spLocks noGrp="1"/>
          </p:cNvSpPr>
          <p:nvPr/>
        </p:nvSpPr>
        <p:spPr>
          <a:xfrm>
            <a:off x="723900" y="3857625"/>
            <a:ext cx="10287000" cy="523875"/>
          </a:xfrm>
          <a:prstGeom prst="rect">
            <a:avLst/>
          </a:prstGeom>
          <a:noFill/>
          <a:ln w="0">
            <a:noFill/>
            <a:prstDash val="solid"/>
          </a:ln>
        </p:spPr>
        <p:txBody>
          <a:bodyPr anchor="t">
            <a:normAutofit/>
          </a:bodyPr>
          <a:lstStyle/>
          <a:p>
            <a:pPr algn="l">
              <a:lnSpc>
                <a:spcPct val="100000"/>
              </a:lnSpc>
              <a:buNone/>
              <a:defRPr sz="1650" b="0">
                <a:solidFill>
                  <a:srgbClr val="183247"/>
                </a:solidFill>
                <a:latin typeface="Arial"/>
                <a:ea typeface="Arial"/>
                <a:cs typeface="Arial"/>
              </a:defRPr>
            </a:pPr>
            <a:r>
              <a:rPr sz="1650" b="0">
                <a:solidFill>
                  <a:srgbClr val="183247"/>
                </a:solidFill>
                <a:latin typeface="Arial"/>
                <a:ea typeface="Arial"/>
                <a:cs typeface="Arial"/>
              </a:rPr>
              <a:t>Unavailable parts or no qualified technician can stop assignment and flag the request for operations.</a:t>
            </a:r>
          </a:p>
        </p:txBody>
      </p:sp>
      <p:sp>
        <p:nvSpPr>
          <p:cNvPr id="27" name="Rectangle 26">
            <a:extLst>
              <a:ext uri="{FF2B5EF4-FFF2-40B4-BE49-F238E27FC236}">
                <a16:creationId xmlns:a16="http://schemas.microsoft.com/office/drawing/2014/main" id="{C6C4818F-6B18-4CCE-BAE8-961D73F3F3A0}"/>
              </a:ext>
            </a:extLst>
          </p:cNvPr>
          <p:cNvSpPr>
            <a:spLocks noGrp="1"/>
          </p:cNvSpPr>
          <p:nvPr/>
        </p:nvSpPr>
        <p:spPr>
          <a:xfrm>
            <a:off x="723900" y="4714875"/>
            <a:ext cx="10096500" cy="19050"/>
          </a:xfrm>
          <a:prstGeom prst="rect">
            <a:avLst/>
          </a:prstGeom>
          <a:solidFill>
            <a:srgbClr val="D8E2E8"/>
          </a:solidFill>
          <a:ln w="0">
            <a:noFill/>
            <a:prstDash val="solid"/>
          </a:ln>
        </p:spPr>
      </p:sp>
      <p:sp>
        <p:nvSpPr>
          <p:cNvPr id="28" name="Rectangle 27">
            <a:extLst>
              <a:ext uri="{FF2B5EF4-FFF2-40B4-BE49-F238E27FC236}">
                <a16:creationId xmlns:a16="http://schemas.microsoft.com/office/drawing/2014/main" id="{974E643E-F16E-4536-B7E5-06BA49D6319A}"/>
              </a:ext>
            </a:extLst>
          </p:cNvPr>
          <p:cNvSpPr>
            <a:spLocks noGrp="1"/>
          </p:cNvSpPr>
          <p:nvPr/>
        </p:nvSpPr>
        <p:spPr>
          <a:xfrm>
            <a:off x="723900" y="4972050"/>
            <a:ext cx="10287000" cy="666750"/>
          </a:xfrm>
          <a:prstGeom prst="rect">
            <a:avLst/>
          </a:prstGeom>
          <a:noFill/>
          <a:ln w="0">
            <a:noFill/>
            <a:prstDash val="solid"/>
          </a:ln>
        </p:spPr>
        <p:txBody>
          <a:bodyPr anchor="t">
            <a:normAutofit/>
          </a:bodyPr>
          <a:lstStyle/>
          <a:p>
            <a:pPr algn="l">
              <a:lnSpc>
                <a:spcPct val="100000"/>
              </a:lnSpc>
              <a:buNone/>
              <a:defRPr sz="1500" b="0">
                <a:solidFill>
                  <a:srgbClr val="597083"/>
                </a:solidFill>
                <a:latin typeface="Arial"/>
                <a:ea typeface="Arial"/>
                <a:cs typeface="Arial"/>
              </a:defRPr>
            </a:pPr>
            <a:r>
              <a:rPr sz="1500" b="0">
                <a:solidFill>
                  <a:srgbClr val="597083"/>
                </a:solidFill>
                <a:latin typeface="Arial"/>
                <a:ea typeface="Arial"/>
                <a:cs typeface="Arial"/>
              </a:rPr>
              <a:t>Status transitions are validated by the API. Each transition can add a task log and audit event; key events also notify the requester or technician.</a:t>
            </a:r>
          </a:p>
        </p:txBody>
      </p:sp>
    </p:spTree>
    <p:extLst>
      <p:ext uri="{BB962C8B-B14F-4D97-AF65-F5344CB8AC3E}">
        <p14:creationId xmlns:p14="http://schemas.microsoft.com/office/powerpoint/2010/main" val="1972899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C42133B-529D-4E11-9D35-EF434DD407DE}"/>
              </a:ext>
            </a:extLst>
          </p:cNvPr>
          <p:cNvSpPr>
            <a:spLocks noGrp="1"/>
          </p:cNvSpPr>
          <p:nvPr/>
        </p:nvSpPr>
        <p:spPr>
          <a:xfrm>
            <a:off x="0" y="0"/>
            <a:ext cx="133350" cy="6858000"/>
          </a:xfrm>
          <a:prstGeom prst="rect">
            <a:avLst/>
          </a:prstGeom>
          <a:solidFill>
            <a:srgbClr val="16B8A6"/>
          </a:solidFill>
          <a:ln w="0">
            <a:noFill/>
            <a:prstDash val="solid"/>
          </a:ln>
        </p:spPr>
      </p:sp>
      <p:sp>
        <p:nvSpPr>
          <p:cNvPr id="2" name="Rectangle 1">
            <a:extLst>
              <a:ext uri="{FF2B5EF4-FFF2-40B4-BE49-F238E27FC236}">
                <a16:creationId xmlns:a16="http://schemas.microsoft.com/office/drawing/2014/main" id="{DF1C5038-932F-447C-9E83-FAEFE59D8C6A}"/>
              </a:ext>
            </a:extLst>
          </p:cNvPr>
          <p:cNvSpPr>
            <a:spLocks noGrp="1"/>
          </p:cNvSpPr>
          <p:nvPr/>
        </p:nvSpPr>
        <p:spPr>
          <a:xfrm>
            <a:off x="666750" y="304800"/>
            <a:ext cx="6667500" cy="247650"/>
          </a:xfrm>
          <a:prstGeom prst="rect">
            <a:avLst/>
          </a:prstGeom>
          <a:noFill/>
          <a:ln w="0">
            <a:noFill/>
            <a:prstDash val="solid"/>
          </a:ln>
        </p:spPr>
        <p:txBody>
          <a:bodyPr anchor="ctr">
            <a:normAutofit fontScale="97619"/>
          </a:bodyPr>
          <a:lstStyle/>
          <a:p>
            <a:pPr algn="l">
              <a:lnSpc>
                <a:spcPct val="100000"/>
              </a:lnSpc>
              <a:buNone/>
              <a:defRPr sz="1050" b="1">
                <a:solidFill>
                  <a:srgbClr val="087F78"/>
                </a:solidFill>
                <a:latin typeface="Arial"/>
                <a:ea typeface="Arial"/>
                <a:cs typeface="Arial"/>
              </a:defRPr>
            </a:pPr>
            <a:r>
              <a:rPr sz="1050" b="1">
                <a:solidFill>
                  <a:srgbClr val="087F78"/>
                </a:solidFill>
                <a:latin typeface="Arial"/>
                <a:ea typeface="Arial"/>
                <a:cs typeface="Arial"/>
              </a:rPr>
              <a:t>RESOURCE MATCHING</a:t>
            </a:r>
          </a:p>
        </p:txBody>
      </p:sp>
      <p:sp>
        <p:nvSpPr>
          <p:cNvPr id="3" name="Rectangle 2">
            <a:extLst>
              <a:ext uri="{FF2B5EF4-FFF2-40B4-BE49-F238E27FC236}">
                <a16:creationId xmlns:a16="http://schemas.microsoft.com/office/drawing/2014/main" id="{8A22C42B-E156-4298-9302-46475F3891FD}"/>
              </a:ext>
            </a:extLst>
          </p:cNvPr>
          <p:cNvSpPr>
            <a:spLocks noGrp="1"/>
          </p:cNvSpPr>
          <p:nvPr/>
        </p:nvSpPr>
        <p:spPr>
          <a:xfrm>
            <a:off x="666750" y="647700"/>
            <a:ext cx="10763250" cy="685800"/>
          </a:xfrm>
          <a:prstGeom prst="rect">
            <a:avLst/>
          </a:prstGeom>
          <a:noFill/>
          <a:ln w="0">
            <a:noFill/>
            <a:prstDash val="solid"/>
          </a:ln>
        </p:spPr>
        <p:txBody>
          <a:bodyPr anchor="ctr">
            <a:normAutofit/>
          </a:bodyPr>
          <a:lstStyle/>
          <a:p>
            <a:pPr algn="l">
              <a:lnSpc>
                <a:spcPct val="100000"/>
              </a:lnSpc>
              <a:buNone/>
              <a:defRPr sz="3600" b="1">
                <a:solidFill>
                  <a:srgbClr val="0B1F33"/>
                </a:solidFill>
                <a:latin typeface="Arial"/>
                <a:ea typeface="Arial"/>
                <a:cs typeface="Arial"/>
              </a:defRPr>
            </a:pPr>
            <a:r>
              <a:rPr sz="3600" b="1">
                <a:solidFill>
                  <a:srgbClr val="0B1F33"/>
                </a:solidFill>
                <a:latin typeface="Arial"/>
                <a:ea typeface="Arial"/>
                <a:cs typeface="Arial"/>
              </a:rPr>
              <a:t>Assignment weighs fit and current workload</a:t>
            </a:r>
          </a:p>
        </p:txBody>
      </p:sp>
      <p:sp>
        <p:nvSpPr>
          <p:cNvPr id="4" name="Rectangle 3">
            <a:extLst>
              <a:ext uri="{FF2B5EF4-FFF2-40B4-BE49-F238E27FC236}">
                <a16:creationId xmlns:a16="http://schemas.microsoft.com/office/drawing/2014/main" id="{DB85F937-466A-4198-BBBD-95F21A95C6C2}"/>
              </a:ext>
            </a:extLst>
          </p:cNvPr>
          <p:cNvSpPr>
            <a:spLocks noGrp="1"/>
          </p:cNvSpPr>
          <p:nvPr/>
        </p:nvSpPr>
        <p:spPr>
          <a:xfrm>
            <a:off x="666750" y="6267450"/>
            <a:ext cx="10858500" cy="9525"/>
          </a:xfrm>
          <a:prstGeom prst="rect">
            <a:avLst/>
          </a:prstGeom>
          <a:solidFill>
            <a:srgbClr val="D8E2E8"/>
          </a:solidFill>
          <a:ln w="0">
            <a:noFill/>
            <a:prstDash val="solid"/>
          </a:ln>
        </p:spPr>
      </p:sp>
      <p:sp>
        <p:nvSpPr>
          <p:cNvPr id="5" name="Rectangle 4">
            <a:extLst>
              <a:ext uri="{FF2B5EF4-FFF2-40B4-BE49-F238E27FC236}">
                <a16:creationId xmlns:a16="http://schemas.microsoft.com/office/drawing/2014/main" id="{697C3702-722E-4B60-A472-A3FA2029257B}"/>
              </a:ext>
            </a:extLst>
          </p:cNvPr>
          <p:cNvSpPr>
            <a:spLocks noGrp="1"/>
          </p:cNvSpPr>
          <p:nvPr/>
        </p:nvSpPr>
        <p:spPr>
          <a:xfrm>
            <a:off x="666750" y="6343650"/>
            <a:ext cx="8572500" cy="209550"/>
          </a:xfrm>
          <a:prstGeom prst="rect">
            <a:avLst/>
          </a:prstGeom>
          <a:noFill/>
          <a:ln w="0">
            <a:noFill/>
            <a:prstDash val="solid"/>
          </a:ln>
        </p:spPr>
        <p:txBody>
          <a:bodyPr anchor="ctr">
            <a:normAutofit fontScale="86111"/>
          </a:bodyPr>
          <a:lstStyle/>
          <a:p>
            <a:pPr algn="l">
              <a:lnSpc>
                <a:spcPct val="100000"/>
              </a:lnSpc>
              <a:buNone/>
              <a:defRPr sz="900" b="1">
                <a:solidFill>
                  <a:srgbClr val="597083"/>
                </a:solidFill>
                <a:latin typeface="Arial"/>
                <a:ea typeface="Arial"/>
                <a:cs typeface="Arial"/>
              </a:defRPr>
            </a:pPr>
            <a:r>
              <a:rPr sz="900" b="1">
                <a:solidFill>
                  <a:srgbClr val="597083"/>
                </a:solidFill>
                <a:latin typeface="Arial"/>
                <a:ea typeface="Arial"/>
                <a:cs typeface="Arial"/>
              </a:rPr>
              <a:t>DATAQUEST 3.0  /  DURANTHAM</a:t>
            </a:r>
          </a:p>
        </p:txBody>
      </p:sp>
      <p:sp>
        <p:nvSpPr>
          <p:cNvPr id="6" name="Rectangle 5">
            <a:extLst>
              <a:ext uri="{FF2B5EF4-FFF2-40B4-BE49-F238E27FC236}">
                <a16:creationId xmlns:a16="http://schemas.microsoft.com/office/drawing/2014/main" id="{52763719-7E85-4E67-A1B9-74E679B234E3}"/>
              </a:ext>
            </a:extLst>
          </p:cNvPr>
          <p:cNvSpPr>
            <a:spLocks noGrp="1"/>
          </p:cNvSpPr>
          <p:nvPr/>
        </p:nvSpPr>
        <p:spPr>
          <a:xfrm>
            <a:off x="723900" y="1504950"/>
            <a:ext cx="10287000" cy="438150"/>
          </a:xfrm>
          <a:prstGeom prst="rect">
            <a:avLst/>
          </a:prstGeom>
          <a:noFill/>
          <a:ln w="0">
            <a:noFill/>
            <a:prstDash val="solid"/>
          </a:ln>
        </p:spPr>
        <p:txBody>
          <a:bodyPr anchor="ctr">
            <a:normAutofit/>
          </a:bodyPr>
          <a:lstStyle/>
          <a:p>
            <a:pPr algn="l">
              <a:lnSpc>
                <a:spcPct val="100000"/>
              </a:lnSpc>
              <a:buNone/>
              <a:defRPr sz="1875" b="1">
                <a:solidFill>
                  <a:srgbClr val="183247"/>
                </a:solidFill>
                <a:latin typeface="Arial"/>
                <a:ea typeface="Arial"/>
                <a:cs typeface="Arial"/>
              </a:defRPr>
            </a:pPr>
            <a:r>
              <a:rPr sz="1875" b="1">
                <a:solidFill>
                  <a:srgbClr val="183247"/>
                </a:solidFill>
                <a:latin typeface="Arial"/>
                <a:ea typeface="Arial"/>
                <a:cs typeface="Arial"/>
              </a:rPr>
              <a:t>Automatic selection applies these checks in sequence.</a:t>
            </a:r>
          </a:p>
        </p:txBody>
      </p:sp>
      <p:sp>
        <p:nvSpPr>
          <p:cNvPr id="7" name="Rectangle 6">
            <a:extLst>
              <a:ext uri="{FF2B5EF4-FFF2-40B4-BE49-F238E27FC236}">
                <a16:creationId xmlns:a16="http://schemas.microsoft.com/office/drawing/2014/main" id="{D3837F28-7813-4D4A-A269-96C524478C5C}"/>
              </a:ext>
            </a:extLst>
          </p:cNvPr>
          <p:cNvSpPr>
            <a:spLocks noGrp="1"/>
          </p:cNvSpPr>
          <p:nvPr/>
        </p:nvSpPr>
        <p:spPr>
          <a:xfrm>
            <a:off x="742950" y="2133600"/>
            <a:ext cx="2762250" cy="285750"/>
          </a:xfrm>
          <a:prstGeom prst="rect">
            <a:avLst/>
          </a:prstGeom>
          <a:noFill/>
          <a:ln w="0">
            <a:noFill/>
            <a:prstDash val="solid"/>
          </a:ln>
        </p:spPr>
        <p:txBody>
          <a:bodyPr anchor="ctr">
            <a:normAutofit/>
          </a:bodyPr>
          <a:lstStyle/>
          <a:p>
            <a:pPr algn="l">
              <a:lnSpc>
                <a:spcPct val="100000"/>
              </a:lnSpc>
              <a:buNone/>
              <a:defRPr sz="1200" b="1">
                <a:solidFill>
                  <a:srgbClr val="0B1F33"/>
                </a:solidFill>
                <a:latin typeface="Arial"/>
                <a:ea typeface="Arial"/>
                <a:cs typeface="Arial"/>
              </a:defRPr>
            </a:pPr>
            <a:r>
              <a:rPr sz="1200" b="1">
                <a:solidFill>
                  <a:srgbClr val="0B1F33"/>
                </a:solidFill>
                <a:latin typeface="Arial"/>
                <a:ea typeface="Arial"/>
                <a:cs typeface="Arial"/>
              </a:rPr>
              <a:t>01  SITE</a:t>
            </a:r>
          </a:p>
        </p:txBody>
      </p:sp>
      <p:sp>
        <p:nvSpPr>
          <p:cNvPr id="8" name="Rectangle 7">
            <a:extLst>
              <a:ext uri="{FF2B5EF4-FFF2-40B4-BE49-F238E27FC236}">
                <a16:creationId xmlns:a16="http://schemas.microsoft.com/office/drawing/2014/main" id="{E22341E8-B60F-487B-9145-7C52761796AE}"/>
              </a:ext>
            </a:extLst>
          </p:cNvPr>
          <p:cNvSpPr>
            <a:spLocks noGrp="1"/>
          </p:cNvSpPr>
          <p:nvPr/>
        </p:nvSpPr>
        <p:spPr>
          <a:xfrm>
            <a:off x="3638550" y="2124075"/>
            <a:ext cx="7334250" cy="400050"/>
          </a:xfrm>
          <a:prstGeom prst="rect">
            <a:avLst/>
          </a:prstGeom>
          <a:noFill/>
          <a:ln w="0">
            <a:noFill/>
            <a:prstDash val="solid"/>
          </a:ln>
        </p:spPr>
        <p:txBody>
          <a:bodyPr anchor="t">
            <a:normAutofit/>
          </a:bodyPr>
          <a:lstStyle/>
          <a:p>
            <a:pPr algn="l">
              <a:lnSpc>
                <a:spcPct val="100000"/>
              </a:lnSpc>
              <a:buNone/>
              <a:defRPr sz="1500" b="0">
                <a:solidFill>
                  <a:srgbClr val="183247"/>
                </a:solidFill>
                <a:latin typeface="Arial"/>
                <a:ea typeface="Arial"/>
                <a:cs typeface="Arial"/>
              </a:defRPr>
            </a:pPr>
            <a:r>
              <a:rPr sz="1500" b="0">
                <a:solidFill>
                  <a:srgbClr val="183247"/>
                </a:solidFill>
                <a:latin typeface="Arial"/>
                <a:ea typeface="Arial"/>
                <a:cs typeface="Arial"/>
              </a:rPr>
              <a:t>Technician must work at the machine site.</a:t>
            </a:r>
          </a:p>
        </p:txBody>
      </p:sp>
      <p:sp>
        <p:nvSpPr>
          <p:cNvPr id="9" name="Rectangle 8">
            <a:extLst>
              <a:ext uri="{FF2B5EF4-FFF2-40B4-BE49-F238E27FC236}">
                <a16:creationId xmlns:a16="http://schemas.microsoft.com/office/drawing/2014/main" id="{9768C547-D135-4A46-9BB7-7613557CD09F}"/>
              </a:ext>
            </a:extLst>
          </p:cNvPr>
          <p:cNvSpPr>
            <a:spLocks noGrp="1"/>
          </p:cNvSpPr>
          <p:nvPr/>
        </p:nvSpPr>
        <p:spPr>
          <a:xfrm>
            <a:off x="742950" y="2581275"/>
            <a:ext cx="10001250" cy="9525"/>
          </a:xfrm>
          <a:prstGeom prst="rect">
            <a:avLst/>
          </a:prstGeom>
          <a:solidFill>
            <a:srgbClr val="D8E2E8"/>
          </a:solidFill>
          <a:ln w="0">
            <a:noFill/>
            <a:prstDash val="solid"/>
          </a:ln>
        </p:spPr>
      </p:sp>
      <p:sp>
        <p:nvSpPr>
          <p:cNvPr id="10" name="Rectangle 9">
            <a:extLst>
              <a:ext uri="{FF2B5EF4-FFF2-40B4-BE49-F238E27FC236}">
                <a16:creationId xmlns:a16="http://schemas.microsoft.com/office/drawing/2014/main" id="{277477DA-DF15-494D-BF51-DA3836083CA0}"/>
              </a:ext>
            </a:extLst>
          </p:cNvPr>
          <p:cNvSpPr>
            <a:spLocks noGrp="1"/>
          </p:cNvSpPr>
          <p:nvPr/>
        </p:nvSpPr>
        <p:spPr>
          <a:xfrm>
            <a:off x="742950" y="2809875"/>
            <a:ext cx="2762250" cy="285750"/>
          </a:xfrm>
          <a:prstGeom prst="rect">
            <a:avLst/>
          </a:prstGeom>
          <a:noFill/>
          <a:ln w="0">
            <a:noFill/>
            <a:prstDash val="solid"/>
          </a:ln>
        </p:spPr>
        <p:txBody>
          <a:bodyPr anchor="ctr">
            <a:normAutofit/>
          </a:bodyPr>
          <a:lstStyle/>
          <a:p>
            <a:pPr algn="l">
              <a:lnSpc>
                <a:spcPct val="100000"/>
              </a:lnSpc>
              <a:buNone/>
              <a:defRPr sz="1200" b="1">
                <a:solidFill>
                  <a:srgbClr val="0B1F33"/>
                </a:solidFill>
                <a:latin typeface="Arial"/>
                <a:ea typeface="Arial"/>
                <a:cs typeface="Arial"/>
              </a:defRPr>
            </a:pPr>
            <a:r>
              <a:rPr sz="1200" b="1">
                <a:solidFill>
                  <a:srgbClr val="0B1F33"/>
                </a:solidFill>
                <a:latin typeface="Arial"/>
                <a:ea typeface="Arial"/>
                <a:cs typeface="Arial"/>
              </a:rPr>
              <a:t>02  REQUIRED SKILLS</a:t>
            </a:r>
          </a:p>
        </p:txBody>
      </p:sp>
      <p:sp>
        <p:nvSpPr>
          <p:cNvPr id="11" name="Rectangle 10">
            <a:extLst>
              <a:ext uri="{FF2B5EF4-FFF2-40B4-BE49-F238E27FC236}">
                <a16:creationId xmlns:a16="http://schemas.microsoft.com/office/drawing/2014/main" id="{C2D0F1A3-4C22-4242-B4E7-1517F779FF39}"/>
              </a:ext>
            </a:extLst>
          </p:cNvPr>
          <p:cNvSpPr>
            <a:spLocks noGrp="1"/>
          </p:cNvSpPr>
          <p:nvPr/>
        </p:nvSpPr>
        <p:spPr>
          <a:xfrm>
            <a:off x="3638550" y="2800350"/>
            <a:ext cx="7334250" cy="400050"/>
          </a:xfrm>
          <a:prstGeom prst="rect">
            <a:avLst/>
          </a:prstGeom>
          <a:noFill/>
          <a:ln w="0">
            <a:noFill/>
            <a:prstDash val="solid"/>
          </a:ln>
        </p:spPr>
        <p:txBody>
          <a:bodyPr anchor="t">
            <a:normAutofit/>
          </a:bodyPr>
          <a:lstStyle/>
          <a:p>
            <a:pPr algn="l">
              <a:lnSpc>
                <a:spcPct val="100000"/>
              </a:lnSpc>
              <a:buNone/>
              <a:defRPr sz="1500" b="0">
                <a:solidFill>
                  <a:srgbClr val="183247"/>
                </a:solidFill>
                <a:latin typeface="Arial"/>
                <a:ea typeface="Arial"/>
                <a:cs typeface="Arial"/>
              </a:defRPr>
            </a:pPr>
            <a:r>
              <a:rPr sz="1500" b="0">
                <a:solidFill>
                  <a:srgbClr val="183247"/>
                </a:solidFill>
                <a:latin typeface="Arial"/>
                <a:ea typeface="Arial"/>
                <a:cs typeface="Arial"/>
              </a:rPr>
              <a:t>Technician must meet every required skill.</a:t>
            </a:r>
          </a:p>
        </p:txBody>
      </p:sp>
      <p:sp>
        <p:nvSpPr>
          <p:cNvPr id="12" name="Rectangle 11">
            <a:extLst>
              <a:ext uri="{FF2B5EF4-FFF2-40B4-BE49-F238E27FC236}">
                <a16:creationId xmlns:a16="http://schemas.microsoft.com/office/drawing/2014/main" id="{D2024C1E-13CC-4B77-AC78-1F4341D6A9BE}"/>
              </a:ext>
            </a:extLst>
          </p:cNvPr>
          <p:cNvSpPr>
            <a:spLocks noGrp="1"/>
          </p:cNvSpPr>
          <p:nvPr/>
        </p:nvSpPr>
        <p:spPr>
          <a:xfrm>
            <a:off x="742950" y="3257550"/>
            <a:ext cx="10001250" cy="9525"/>
          </a:xfrm>
          <a:prstGeom prst="rect">
            <a:avLst/>
          </a:prstGeom>
          <a:solidFill>
            <a:srgbClr val="D8E2E8"/>
          </a:solidFill>
          <a:ln w="0">
            <a:noFill/>
            <a:prstDash val="solid"/>
          </a:ln>
        </p:spPr>
      </p:sp>
      <p:sp>
        <p:nvSpPr>
          <p:cNvPr id="13" name="Rectangle 12">
            <a:extLst>
              <a:ext uri="{FF2B5EF4-FFF2-40B4-BE49-F238E27FC236}">
                <a16:creationId xmlns:a16="http://schemas.microsoft.com/office/drawing/2014/main" id="{D1746118-72BC-406A-9F4D-A247F0A558C3}"/>
              </a:ext>
            </a:extLst>
          </p:cNvPr>
          <p:cNvSpPr>
            <a:spLocks noGrp="1"/>
          </p:cNvSpPr>
          <p:nvPr/>
        </p:nvSpPr>
        <p:spPr>
          <a:xfrm>
            <a:off x="742950" y="3486150"/>
            <a:ext cx="2762250" cy="285750"/>
          </a:xfrm>
          <a:prstGeom prst="rect">
            <a:avLst/>
          </a:prstGeom>
          <a:noFill/>
          <a:ln w="0">
            <a:noFill/>
            <a:prstDash val="solid"/>
          </a:ln>
        </p:spPr>
        <p:txBody>
          <a:bodyPr anchor="ctr">
            <a:normAutofit/>
          </a:bodyPr>
          <a:lstStyle/>
          <a:p>
            <a:pPr algn="l">
              <a:lnSpc>
                <a:spcPct val="100000"/>
              </a:lnSpc>
              <a:buNone/>
              <a:defRPr sz="1200" b="1">
                <a:solidFill>
                  <a:srgbClr val="087F78"/>
                </a:solidFill>
                <a:latin typeface="Arial"/>
                <a:ea typeface="Arial"/>
                <a:cs typeface="Arial"/>
              </a:defRPr>
            </a:pPr>
            <a:r>
              <a:rPr sz="1200" b="1">
                <a:solidFill>
                  <a:srgbClr val="087F78"/>
                </a:solidFill>
                <a:latin typeface="Arial"/>
                <a:ea typeface="Arial"/>
                <a:cs typeface="Arial"/>
              </a:rPr>
              <a:t>03  ISSUE SPECIALTY</a:t>
            </a:r>
          </a:p>
        </p:txBody>
      </p:sp>
      <p:sp>
        <p:nvSpPr>
          <p:cNvPr id="14" name="Rectangle 13">
            <a:extLst>
              <a:ext uri="{FF2B5EF4-FFF2-40B4-BE49-F238E27FC236}">
                <a16:creationId xmlns:a16="http://schemas.microsoft.com/office/drawing/2014/main" id="{BBDE35AB-FEFF-4ABD-A9C3-70AFC9890CC8}"/>
              </a:ext>
            </a:extLst>
          </p:cNvPr>
          <p:cNvSpPr>
            <a:spLocks noGrp="1"/>
          </p:cNvSpPr>
          <p:nvPr/>
        </p:nvSpPr>
        <p:spPr>
          <a:xfrm>
            <a:off x="3638550" y="3476625"/>
            <a:ext cx="7334250" cy="400050"/>
          </a:xfrm>
          <a:prstGeom prst="rect">
            <a:avLst/>
          </a:prstGeom>
          <a:noFill/>
          <a:ln w="0">
            <a:noFill/>
            <a:prstDash val="solid"/>
          </a:ln>
        </p:spPr>
        <p:txBody>
          <a:bodyPr anchor="t">
            <a:normAutofit/>
          </a:bodyPr>
          <a:lstStyle/>
          <a:p>
            <a:pPr algn="l">
              <a:lnSpc>
                <a:spcPct val="100000"/>
              </a:lnSpc>
              <a:buNone/>
              <a:defRPr sz="1500" b="0">
                <a:solidFill>
                  <a:srgbClr val="183247"/>
                </a:solidFill>
                <a:latin typeface="Arial"/>
                <a:ea typeface="Arial"/>
                <a:cs typeface="Arial"/>
              </a:defRPr>
            </a:pPr>
            <a:r>
              <a:rPr sz="1500" b="0">
                <a:solidFill>
                  <a:srgbClr val="183247"/>
                </a:solidFill>
                <a:latin typeface="Arial"/>
                <a:ea typeface="Arial"/>
                <a:cs typeface="Arial"/>
              </a:rPr>
              <a:t>At least one preferred specialist skill must match.</a:t>
            </a:r>
          </a:p>
        </p:txBody>
      </p:sp>
      <p:sp>
        <p:nvSpPr>
          <p:cNvPr id="15" name="Rectangle 14">
            <a:extLst>
              <a:ext uri="{FF2B5EF4-FFF2-40B4-BE49-F238E27FC236}">
                <a16:creationId xmlns:a16="http://schemas.microsoft.com/office/drawing/2014/main" id="{5E70EC31-0485-4E83-9AAE-7B2307322C50}"/>
              </a:ext>
            </a:extLst>
          </p:cNvPr>
          <p:cNvSpPr>
            <a:spLocks noGrp="1"/>
          </p:cNvSpPr>
          <p:nvPr/>
        </p:nvSpPr>
        <p:spPr>
          <a:xfrm>
            <a:off x="742950" y="3933825"/>
            <a:ext cx="10001250" cy="9525"/>
          </a:xfrm>
          <a:prstGeom prst="rect">
            <a:avLst/>
          </a:prstGeom>
          <a:solidFill>
            <a:srgbClr val="D8E2E8"/>
          </a:solidFill>
          <a:ln w="0">
            <a:noFill/>
            <a:prstDash val="solid"/>
          </a:ln>
        </p:spPr>
      </p:sp>
      <p:sp>
        <p:nvSpPr>
          <p:cNvPr id="16" name="Rectangle 15">
            <a:extLst>
              <a:ext uri="{FF2B5EF4-FFF2-40B4-BE49-F238E27FC236}">
                <a16:creationId xmlns:a16="http://schemas.microsoft.com/office/drawing/2014/main" id="{7141FE77-BC1F-4059-82A3-90271BF0FF72}"/>
              </a:ext>
            </a:extLst>
          </p:cNvPr>
          <p:cNvSpPr>
            <a:spLocks noGrp="1"/>
          </p:cNvSpPr>
          <p:nvPr/>
        </p:nvSpPr>
        <p:spPr>
          <a:xfrm>
            <a:off x="742950" y="4162425"/>
            <a:ext cx="2762250" cy="285750"/>
          </a:xfrm>
          <a:prstGeom prst="rect">
            <a:avLst/>
          </a:prstGeom>
          <a:noFill/>
          <a:ln w="0">
            <a:noFill/>
            <a:prstDash val="solid"/>
          </a:ln>
        </p:spPr>
        <p:txBody>
          <a:bodyPr anchor="ctr">
            <a:normAutofit/>
          </a:bodyPr>
          <a:lstStyle/>
          <a:p>
            <a:pPr algn="l">
              <a:lnSpc>
                <a:spcPct val="100000"/>
              </a:lnSpc>
              <a:buNone/>
              <a:defRPr sz="1200" b="1">
                <a:solidFill>
                  <a:srgbClr val="0B1F33"/>
                </a:solidFill>
                <a:latin typeface="Arial"/>
                <a:ea typeface="Arial"/>
                <a:cs typeface="Arial"/>
              </a:defRPr>
            </a:pPr>
            <a:r>
              <a:rPr sz="1200" b="1">
                <a:solidFill>
                  <a:srgbClr val="0B1F33"/>
                </a:solidFill>
                <a:latin typeface="Arial"/>
                <a:ea typeface="Arial"/>
                <a:cs typeface="Arial"/>
              </a:rPr>
              <a:t>04  WORKLOAD</a:t>
            </a:r>
          </a:p>
        </p:txBody>
      </p:sp>
      <p:sp>
        <p:nvSpPr>
          <p:cNvPr id="17" name="Rectangle 16">
            <a:extLst>
              <a:ext uri="{FF2B5EF4-FFF2-40B4-BE49-F238E27FC236}">
                <a16:creationId xmlns:a16="http://schemas.microsoft.com/office/drawing/2014/main" id="{46B6D281-3B4B-4BE5-87C3-9BCAEC358459}"/>
              </a:ext>
            </a:extLst>
          </p:cNvPr>
          <p:cNvSpPr>
            <a:spLocks noGrp="1"/>
          </p:cNvSpPr>
          <p:nvPr/>
        </p:nvSpPr>
        <p:spPr>
          <a:xfrm>
            <a:off x="3638550" y="4152900"/>
            <a:ext cx="7334250" cy="400050"/>
          </a:xfrm>
          <a:prstGeom prst="rect">
            <a:avLst/>
          </a:prstGeom>
          <a:noFill/>
          <a:ln w="0">
            <a:noFill/>
            <a:prstDash val="solid"/>
          </a:ln>
        </p:spPr>
        <p:txBody>
          <a:bodyPr anchor="t">
            <a:normAutofit/>
          </a:bodyPr>
          <a:lstStyle/>
          <a:p>
            <a:pPr algn="l">
              <a:lnSpc>
                <a:spcPct val="100000"/>
              </a:lnSpc>
              <a:buNone/>
              <a:defRPr sz="1500" b="0">
                <a:solidFill>
                  <a:srgbClr val="183247"/>
                </a:solidFill>
                <a:latin typeface="Arial"/>
                <a:ea typeface="Arial"/>
                <a:cs typeface="Arial"/>
              </a:defRPr>
            </a:pPr>
            <a:r>
              <a:rPr sz="1500" b="0">
                <a:solidFill>
                  <a:srgbClr val="183247"/>
                </a:solidFill>
                <a:latin typeface="Arial"/>
                <a:ea typeface="Arial"/>
                <a:cs typeface="Arial"/>
              </a:rPr>
              <a:t>Lower active assignment count ranks first.</a:t>
            </a:r>
          </a:p>
        </p:txBody>
      </p:sp>
      <p:sp>
        <p:nvSpPr>
          <p:cNvPr id="18" name="Rectangle 17">
            <a:extLst>
              <a:ext uri="{FF2B5EF4-FFF2-40B4-BE49-F238E27FC236}">
                <a16:creationId xmlns:a16="http://schemas.microsoft.com/office/drawing/2014/main" id="{7774D03F-FEBA-4D06-A39D-D064277C686A}"/>
              </a:ext>
            </a:extLst>
          </p:cNvPr>
          <p:cNvSpPr>
            <a:spLocks noGrp="1"/>
          </p:cNvSpPr>
          <p:nvPr/>
        </p:nvSpPr>
        <p:spPr>
          <a:xfrm>
            <a:off x="742950" y="4610100"/>
            <a:ext cx="10001250" cy="9525"/>
          </a:xfrm>
          <a:prstGeom prst="rect">
            <a:avLst/>
          </a:prstGeom>
          <a:solidFill>
            <a:srgbClr val="D8E2E8"/>
          </a:solidFill>
          <a:ln w="0">
            <a:noFill/>
            <a:prstDash val="solid"/>
          </a:ln>
        </p:spPr>
      </p:sp>
      <p:sp>
        <p:nvSpPr>
          <p:cNvPr id="19" name="Rectangle 18">
            <a:extLst>
              <a:ext uri="{FF2B5EF4-FFF2-40B4-BE49-F238E27FC236}">
                <a16:creationId xmlns:a16="http://schemas.microsoft.com/office/drawing/2014/main" id="{E45B017F-985A-48E0-8D82-CA25239C8ABA}"/>
              </a:ext>
            </a:extLst>
          </p:cNvPr>
          <p:cNvSpPr>
            <a:spLocks noGrp="1"/>
          </p:cNvSpPr>
          <p:nvPr/>
        </p:nvSpPr>
        <p:spPr>
          <a:xfrm>
            <a:off x="742950" y="4838700"/>
            <a:ext cx="2762250" cy="285750"/>
          </a:xfrm>
          <a:prstGeom prst="rect">
            <a:avLst/>
          </a:prstGeom>
          <a:noFill/>
          <a:ln w="0">
            <a:noFill/>
            <a:prstDash val="solid"/>
          </a:ln>
        </p:spPr>
        <p:txBody>
          <a:bodyPr anchor="ctr">
            <a:normAutofit/>
          </a:bodyPr>
          <a:lstStyle/>
          <a:p>
            <a:pPr algn="l">
              <a:lnSpc>
                <a:spcPct val="100000"/>
              </a:lnSpc>
              <a:buNone/>
              <a:defRPr sz="1200" b="1">
                <a:solidFill>
                  <a:srgbClr val="0B1F33"/>
                </a:solidFill>
                <a:latin typeface="Arial"/>
                <a:ea typeface="Arial"/>
                <a:cs typeface="Arial"/>
              </a:defRPr>
            </a:pPr>
            <a:r>
              <a:rPr sz="1200" b="1">
                <a:solidFill>
                  <a:srgbClr val="0B1F33"/>
                </a:solidFill>
                <a:latin typeface="Arial"/>
                <a:ea typeface="Arial"/>
                <a:cs typeface="Arial"/>
              </a:rPr>
              <a:t>05  RATING</a:t>
            </a:r>
          </a:p>
        </p:txBody>
      </p:sp>
      <p:sp>
        <p:nvSpPr>
          <p:cNvPr id="20" name="Rectangle 19">
            <a:extLst>
              <a:ext uri="{FF2B5EF4-FFF2-40B4-BE49-F238E27FC236}">
                <a16:creationId xmlns:a16="http://schemas.microsoft.com/office/drawing/2014/main" id="{52E82C7C-EBE5-41AE-A252-C764CFB2DE39}"/>
              </a:ext>
            </a:extLst>
          </p:cNvPr>
          <p:cNvSpPr>
            <a:spLocks noGrp="1"/>
          </p:cNvSpPr>
          <p:nvPr/>
        </p:nvSpPr>
        <p:spPr>
          <a:xfrm>
            <a:off x="3638550" y="4829175"/>
            <a:ext cx="7334250" cy="400050"/>
          </a:xfrm>
          <a:prstGeom prst="rect">
            <a:avLst/>
          </a:prstGeom>
          <a:noFill/>
          <a:ln w="0">
            <a:noFill/>
            <a:prstDash val="solid"/>
          </a:ln>
        </p:spPr>
        <p:txBody>
          <a:bodyPr anchor="t">
            <a:normAutofit/>
          </a:bodyPr>
          <a:lstStyle/>
          <a:p>
            <a:pPr algn="l">
              <a:lnSpc>
                <a:spcPct val="100000"/>
              </a:lnSpc>
              <a:buNone/>
              <a:defRPr sz="1500" b="0">
                <a:solidFill>
                  <a:srgbClr val="183247"/>
                </a:solidFill>
                <a:latin typeface="Arial"/>
                <a:ea typeface="Arial"/>
                <a:cs typeface="Arial"/>
              </a:defRPr>
            </a:pPr>
            <a:r>
              <a:rPr sz="1500" b="0">
                <a:solidFill>
                  <a:srgbClr val="183247"/>
                </a:solidFill>
                <a:latin typeface="Arial"/>
                <a:ea typeface="Arial"/>
                <a:cs typeface="Arial"/>
              </a:rPr>
              <a:t>Higher rating breaks an equal-workload tie.</a:t>
            </a:r>
          </a:p>
        </p:txBody>
      </p:sp>
      <p:sp>
        <p:nvSpPr>
          <p:cNvPr id="21" name="Rectangle 20">
            <a:extLst>
              <a:ext uri="{FF2B5EF4-FFF2-40B4-BE49-F238E27FC236}">
                <a16:creationId xmlns:a16="http://schemas.microsoft.com/office/drawing/2014/main" id="{72E6CE4D-18AB-4F29-AD54-256B68B72A83}"/>
              </a:ext>
            </a:extLst>
          </p:cNvPr>
          <p:cNvSpPr>
            <a:spLocks noGrp="1"/>
          </p:cNvSpPr>
          <p:nvPr/>
        </p:nvSpPr>
        <p:spPr>
          <a:xfrm>
            <a:off x="742950" y="5638800"/>
            <a:ext cx="10477500" cy="323850"/>
          </a:xfrm>
          <a:prstGeom prst="rect">
            <a:avLst/>
          </a:prstGeom>
          <a:noFill/>
          <a:ln w="0">
            <a:noFill/>
            <a:prstDash val="solid"/>
          </a:ln>
        </p:spPr>
        <p:txBody>
          <a:bodyPr anchor="ctr">
            <a:normAutofit/>
          </a:bodyPr>
          <a:lstStyle/>
          <a:p>
            <a:pPr algn="l">
              <a:lnSpc>
                <a:spcPct val="100000"/>
              </a:lnSpc>
              <a:buNone/>
              <a:defRPr sz="1500" b="1">
                <a:solidFill>
                  <a:srgbClr val="087F78"/>
                </a:solidFill>
                <a:latin typeface="Arial"/>
                <a:ea typeface="Arial"/>
                <a:cs typeface="Arial"/>
              </a:defRPr>
            </a:pPr>
            <a:r>
              <a:rPr sz="1500" b="1">
                <a:solidFill>
                  <a:srgbClr val="087F78"/>
                </a:solidFill>
                <a:latin typeface="Arial"/>
                <a:ea typeface="Arial"/>
                <a:cs typeface="Arial"/>
              </a:rPr>
              <a:t>Approval also checks stock and reserves the requested quantity.</a:t>
            </a:r>
          </a:p>
        </p:txBody>
      </p:sp>
    </p:spTree>
    <p:extLst>
      <p:ext uri="{BB962C8B-B14F-4D97-AF65-F5344CB8AC3E}">
        <p14:creationId xmlns:p14="http://schemas.microsoft.com/office/powerpoint/2010/main" val="1763198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399974D-275A-446B-9715-738CBB0A4BF2}"/>
              </a:ext>
            </a:extLst>
          </p:cNvPr>
          <p:cNvSpPr>
            <a:spLocks noGrp="1"/>
          </p:cNvSpPr>
          <p:nvPr/>
        </p:nvSpPr>
        <p:spPr>
          <a:xfrm>
            <a:off x="0" y="0"/>
            <a:ext cx="133350" cy="6858000"/>
          </a:xfrm>
          <a:prstGeom prst="rect">
            <a:avLst/>
          </a:prstGeom>
          <a:solidFill>
            <a:srgbClr val="16B8A6"/>
          </a:solidFill>
          <a:ln w="0">
            <a:noFill/>
            <a:prstDash val="solid"/>
          </a:ln>
        </p:spPr>
      </p:sp>
      <p:sp>
        <p:nvSpPr>
          <p:cNvPr id="2" name="Rectangle 1">
            <a:extLst>
              <a:ext uri="{FF2B5EF4-FFF2-40B4-BE49-F238E27FC236}">
                <a16:creationId xmlns:a16="http://schemas.microsoft.com/office/drawing/2014/main" id="{1EF14EC4-95C9-4A74-ACF9-CCF2AD900F0E}"/>
              </a:ext>
            </a:extLst>
          </p:cNvPr>
          <p:cNvSpPr>
            <a:spLocks noGrp="1"/>
          </p:cNvSpPr>
          <p:nvPr/>
        </p:nvSpPr>
        <p:spPr>
          <a:xfrm>
            <a:off x="666750" y="304800"/>
            <a:ext cx="6667500" cy="247650"/>
          </a:xfrm>
          <a:prstGeom prst="rect">
            <a:avLst/>
          </a:prstGeom>
          <a:noFill/>
          <a:ln w="0">
            <a:noFill/>
            <a:prstDash val="solid"/>
          </a:ln>
        </p:spPr>
        <p:txBody>
          <a:bodyPr anchor="ctr">
            <a:normAutofit fontScale="97619"/>
          </a:bodyPr>
          <a:lstStyle/>
          <a:p>
            <a:pPr algn="l">
              <a:lnSpc>
                <a:spcPct val="100000"/>
              </a:lnSpc>
              <a:buNone/>
              <a:defRPr sz="1050" b="1">
                <a:solidFill>
                  <a:srgbClr val="087F78"/>
                </a:solidFill>
                <a:latin typeface="Arial"/>
                <a:ea typeface="Arial"/>
                <a:cs typeface="Arial"/>
              </a:defRPr>
            </a:pPr>
            <a:r>
              <a:rPr sz="1050" b="1">
                <a:solidFill>
                  <a:srgbClr val="087F78"/>
                </a:solidFill>
                <a:latin typeface="Arial"/>
                <a:ea typeface="Arial"/>
                <a:cs typeface="Arial"/>
              </a:rPr>
              <a:t>TECHNICAL ARCHITECTURE</a:t>
            </a:r>
          </a:p>
        </p:txBody>
      </p:sp>
      <p:sp>
        <p:nvSpPr>
          <p:cNvPr id="3" name="Rectangle 2">
            <a:extLst>
              <a:ext uri="{FF2B5EF4-FFF2-40B4-BE49-F238E27FC236}">
                <a16:creationId xmlns:a16="http://schemas.microsoft.com/office/drawing/2014/main" id="{3CD7D51B-3E0F-4B9B-A44C-5108BF004B72}"/>
              </a:ext>
            </a:extLst>
          </p:cNvPr>
          <p:cNvSpPr>
            <a:spLocks noGrp="1"/>
          </p:cNvSpPr>
          <p:nvPr/>
        </p:nvSpPr>
        <p:spPr>
          <a:xfrm>
            <a:off x="666750" y="647700"/>
            <a:ext cx="10763250" cy="685800"/>
          </a:xfrm>
          <a:prstGeom prst="rect">
            <a:avLst/>
          </a:prstGeom>
          <a:noFill/>
          <a:ln w="0">
            <a:noFill/>
            <a:prstDash val="solid"/>
          </a:ln>
        </p:spPr>
        <p:txBody>
          <a:bodyPr anchor="ctr">
            <a:normAutofit/>
          </a:bodyPr>
          <a:lstStyle/>
          <a:p>
            <a:pPr algn="l">
              <a:lnSpc>
                <a:spcPct val="100000"/>
              </a:lnSpc>
              <a:buNone/>
              <a:defRPr sz="3600" b="1">
                <a:solidFill>
                  <a:srgbClr val="0B1F33"/>
                </a:solidFill>
                <a:latin typeface="Arial"/>
                <a:ea typeface="Arial"/>
                <a:cs typeface="Arial"/>
              </a:defRPr>
            </a:pPr>
            <a:r>
              <a:rPr sz="3600" b="1">
                <a:solidFill>
                  <a:srgbClr val="0B1F33"/>
                </a:solidFill>
                <a:latin typeface="Arial"/>
                <a:ea typeface="Arial"/>
                <a:cs typeface="Arial"/>
              </a:rPr>
              <a:t>A simple core supports future integrations</a:t>
            </a:r>
          </a:p>
        </p:txBody>
      </p:sp>
      <p:sp>
        <p:nvSpPr>
          <p:cNvPr id="4" name="Rectangle 3">
            <a:extLst>
              <a:ext uri="{FF2B5EF4-FFF2-40B4-BE49-F238E27FC236}">
                <a16:creationId xmlns:a16="http://schemas.microsoft.com/office/drawing/2014/main" id="{A12FE9FA-E881-48BF-B8B7-B83196715015}"/>
              </a:ext>
            </a:extLst>
          </p:cNvPr>
          <p:cNvSpPr>
            <a:spLocks noGrp="1"/>
          </p:cNvSpPr>
          <p:nvPr/>
        </p:nvSpPr>
        <p:spPr>
          <a:xfrm>
            <a:off x="666750" y="6267450"/>
            <a:ext cx="10858500" cy="9525"/>
          </a:xfrm>
          <a:prstGeom prst="rect">
            <a:avLst/>
          </a:prstGeom>
          <a:solidFill>
            <a:srgbClr val="D8E2E8"/>
          </a:solidFill>
          <a:ln w="0">
            <a:noFill/>
            <a:prstDash val="solid"/>
          </a:ln>
        </p:spPr>
      </p:sp>
      <p:sp>
        <p:nvSpPr>
          <p:cNvPr id="5" name="Rectangle 4">
            <a:extLst>
              <a:ext uri="{FF2B5EF4-FFF2-40B4-BE49-F238E27FC236}">
                <a16:creationId xmlns:a16="http://schemas.microsoft.com/office/drawing/2014/main" id="{CF266AA8-B930-4646-BB95-DE49E04F2392}"/>
              </a:ext>
            </a:extLst>
          </p:cNvPr>
          <p:cNvSpPr>
            <a:spLocks noGrp="1"/>
          </p:cNvSpPr>
          <p:nvPr/>
        </p:nvSpPr>
        <p:spPr>
          <a:xfrm>
            <a:off x="666750" y="6343650"/>
            <a:ext cx="8572500" cy="209550"/>
          </a:xfrm>
          <a:prstGeom prst="rect">
            <a:avLst/>
          </a:prstGeom>
          <a:noFill/>
          <a:ln w="0">
            <a:noFill/>
            <a:prstDash val="solid"/>
          </a:ln>
        </p:spPr>
        <p:txBody>
          <a:bodyPr anchor="ctr">
            <a:normAutofit fontScale="86111"/>
          </a:bodyPr>
          <a:lstStyle/>
          <a:p>
            <a:pPr algn="l">
              <a:lnSpc>
                <a:spcPct val="100000"/>
              </a:lnSpc>
              <a:buNone/>
              <a:defRPr sz="900" b="1">
                <a:solidFill>
                  <a:srgbClr val="597083"/>
                </a:solidFill>
                <a:latin typeface="Arial"/>
                <a:ea typeface="Arial"/>
                <a:cs typeface="Arial"/>
              </a:defRPr>
            </a:pPr>
            <a:r>
              <a:rPr sz="900" b="1">
                <a:solidFill>
                  <a:srgbClr val="597083"/>
                </a:solidFill>
                <a:latin typeface="Arial"/>
                <a:ea typeface="Arial"/>
                <a:cs typeface="Arial"/>
              </a:rPr>
              <a:t>DATAQUEST 3.0  /  DURANTHAM</a:t>
            </a:r>
          </a:p>
        </p:txBody>
      </p:sp>
      <p:sp>
        <p:nvSpPr>
          <p:cNvPr id="6" name="Rectangle 5">
            <a:extLst>
              <a:ext uri="{FF2B5EF4-FFF2-40B4-BE49-F238E27FC236}">
                <a16:creationId xmlns:a16="http://schemas.microsoft.com/office/drawing/2014/main" id="{2ACEE312-64BF-4D8F-A687-D61E82C03B10}"/>
              </a:ext>
            </a:extLst>
          </p:cNvPr>
          <p:cNvSpPr>
            <a:spLocks noGrp="1"/>
          </p:cNvSpPr>
          <p:nvPr/>
        </p:nvSpPr>
        <p:spPr>
          <a:xfrm>
            <a:off x="742950" y="1657350"/>
            <a:ext cx="2524125" cy="266700"/>
          </a:xfrm>
          <a:prstGeom prst="rect">
            <a:avLst/>
          </a:prstGeom>
          <a:noFill/>
          <a:ln w="0">
            <a:noFill/>
            <a:prstDash val="solid"/>
          </a:ln>
        </p:spPr>
        <p:txBody>
          <a:bodyPr anchor="ctr">
            <a:normAutofit/>
          </a:bodyPr>
          <a:lstStyle/>
          <a:p>
            <a:pPr algn="l">
              <a:lnSpc>
                <a:spcPct val="100000"/>
              </a:lnSpc>
              <a:buNone/>
              <a:defRPr sz="1125" b="1">
                <a:solidFill>
                  <a:srgbClr val="087F78"/>
                </a:solidFill>
                <a:latin typeface="Arial"/>
                <a:ea typeface="Arial"/>
                <a:cs typeface="Arial"/>
              </a:defRPr>
            </a:pPr>
            <a:r>
              <a:rPr sz="1125" b="1">
                <a:solidFill>
                  <a:srgbClr val="087F78"/>
                </a:solidFill>
                <a:latin typeface="Arial"/>
                <a:ea typeface="Arial"/>
                <a:cs typeface="Arial"/>
              </a:rPr>
              <a:t>WEB EXPERIENCE</a:t>
            </a:r>
          </a:p>
        </p:txBody>
      </p:sp>
      <p:sp>
        <p:nvSpPr>
          <p:cNvPr id="7" name="Rectangle 6">
            <a:extLst>
              <a:ext uri="{FF2B5EF4-FFF2-40B4-BE49-F238E27FC236}">
                <a16:creationId xmlns:a16="http://schemas.microsoft.com/office/drawing/2014/main" id="{C3D0EEE0-608F-4C87-9902-CA480691CA4F}"/>
              </a:ext>
            </a:extLst>
          </p:cNvPr>
          <p:cNvSpPr>
            <a:spLocks noGrp="1"/>
          </p:cNvSpPr>
          <p:nvPr/>
        </p:nvSpPr>
        <p:spPr>
          <a:xfrm>
            <a:off x="3429000" y="1638300"/>
            <a:ext cx="7524750" cy="400050"/>
          </a:xfrm>
          <a:prstGeom prst="rect">
            <a:avLst/>
          </a:prstGeom>
          <a:noFill/>
          <a:ln w="0">
            <a:noFill/>
            <a:prstDash val="solid"/>
          </a:ln>
        </p:spPr>
        <p:txBody>
          <a:bodyPr anchor="t">
            <a:normAutofit/>
          </a:bodyPr>
          <a:lstStyle/>
          <a:p>
            <a:pPr algn="l">
              <a:lnSpc>
                <a:spcPct val="100000"/>
              </a:lnSpc>
              <a:buNone/>
              <a:defRPr sz="1575" b="0">
                <a:solidFill>
                  <a:srgbClr val="183247"/>
                </a:solidFill>
                <a:latin typeface="Arial"/>
                <a:ea typeface="Arial"/>
                <a:cs typeface="Arial"/>
              </a:defRPr>
            </a:pPr>
            <a:r>
              <a:rPr sz="1575" b="0">
                <a:solidFill>
                  <a:srgbClr val="183247"/>
                </a:solidFill>
                <a:latin typeface="Arial"/>
                <a:ea typeface="Arial"/>
                <a:cs typeface="Arial"/>
              </a:rPr>
              <a:t>Vanilla JavaScript dashboard served as static files</a:t>
            </a:r>
          </a:p>
        </p:txBody>
      </p:sp>
      <p:sp>
        <p:nvSpPr>
          <p:cNvPr id="8" name="Rectangle 7">
            <a:extLst>
              <a:ext uri="{FF2B5EF4-FFF2-40B4-BE49-F238E27FC236}">
                <a16:creationId xmlns:a16="http://schemas.microsoft.com/office/drawing/2014/main" id="{5FC36FAB-CEF7-456D-9F96-658757207D81}"/>
              </a:ext>
            </a:extLst>
          </p:cNvPr>
          <p:cNvSpPr>
            <a:spLocks noGrp="1"/>
          </p:cNvSpPr>
          <p:nvPr/>
        </p:nvSpPr>
        <p:spPr>
          <a:xfrm>
            <a:off x="742950" y="2143125"/>
            <a:ext cx="10144125" cy="9525"/>
          </a:xfrm>
          <a:prstGeom prst="rect">
            <a:avLst/>
          </a:prstGeom>
          <a:solidFill>
            <a:srgbClr val="D8E2E8"/>
          </a:solidFill>
          <a:ln w="0">
            <a:noFill/>
            <a:prstDash val="solid"/>
          </a:ln>
        </p:spPr>
      </p:sp>
      <p:sp>
        <p:nvSpPr>
          <p:cNvPr id="9" name="Rectangle 8">
            <a:extLst>
              <a:ext uri="{FF2B5EF4-FFF2-40B4-BE49-F238E27FC236}">
                <a16:creationId xmlns:a16="http://schemas.microsoft.com/office/drawing/2014/main" id="{087A6EE3-C807-463D-BEF5-7E4523F32AAA}"/>
              </a:ext>
            </a:extLst>
          </p:cNvPr>
          <p:cNvSpPr>
            <a:spLocks noGrp="1"/>
          </p:cNvSpPr>
          <p:nvPr/>
        </p:nvSpPr>
        <p:spPr>
          <a:xfrm>
            <a:off x="742950" y="2524125"/>
            <a:ext cx="2524125" cy="266700"/>
          </a:xfrm>
          <a:prstGeom prst="rect">
            <a:avLst/>
          </a:prstGeom>
          <a:noFill/>
          <a:ln w="0">
            <a:noFill/>
            <a:prstDash val="solid"/>
          </a:ln>
        </p:spPr>
        <p:txBody>
          <a:bodyPr anchor="ctr">
            <a:normAutofit/>
          </a:bodyPr>
          <a:lstStyle/>
          <a:p>
            <a:pPr algn="l">
              <a:lnSpc>
                <a:spcPct val="100000"/>
              </a:lnSpc>
              <a:buNone/>
              <a:defRPr sz="1125" b="1">
                <a:solidFill>
                  <a:srgbClr val="087F78"/>
                </a:solidFill>
                <a:latin typeface="Arial"/>
                <a:ea typeface="Arial"/>
                <a:cs typeface="Arial"/>
              </a:defRPr>
            </a:pPr>
            <a:r>
              <a:rPr sz="1125" b="1">
                <a:solidFill>
                  <a:srgbClr val="087F78"/>
                </a:solidFill>
                <a:latin typeface="Arial"/>
                <a:ea typeface="Arial"/>
                <a:cs typeface="Arial"/>
              </a:rPr>
              <a:t>API AND POLICY</a:t>
            </a:r>
          </a:p>
        </p:txBody>
      </p:sp>
      <p:sp>
        <p:nvSpPr>
          <p:cNvPr id="10" name="Rectangle 9">
            <a:extLst>
              <a:ext uri="{FF2B5EF4-FFF2-40B4-BE49-F238E27FC236}">
                <a16:creationId xmlns:a16="http://schemas.microsoft.com/office/drawing/2014/main" id="{1401BE75-F991-40D4-A6F6-5CC3C0A59E07}"/>
              </a:ext>
            </a:extLst>
          </p:cNvPr>
          <p:cNvSpPr>
            <a:spLocks noGrp="1"/>
          </p:cNvSpPr>
          <p:nvPr/>
        </p:nvSpPr>
        <p:spPr>
          <a:xfrm>
            <a:off x="3429000" y="2505075"/>
            <a:ext cx="7524750" cy="400050"/>
          </a:xfrm>
          <a:prstGeom prst="rect">
            <a:avLst/>
          </a:prstGeom>
          <a:noFill/>
          <a:ln w="0">
            <a:noFill/>
            <a:prstDash val="solid"/>
          </a:ln>
        </p:spPr>
        <p:txBody>
          <a:bodyPr anchor="t">
            <a:normAutofit/>
          </a:bodyPr>
          <a:lstStyle/>
          <a:p>
            <a:pPr algn="l">
              <a:lnSpc>
                <a:spcPct val="100000"/>
              </a:lnSpc>
              <a:buNone/>
              <a:defRPr sz="1575" b="1">
                <a:solidFill>
                  <a:srgbClr val="183247"/>
                </a:solidFill>
                <a:latin typeface="Arial"/>
                <a:ea typeface="Arial"/>
                <a:cs typeface="Arial"/>
              </a:defRPr>
            </a:pPr>
            <a:r>
              <a:rPr sz="1575" b="1">
                <a:solidFill>
                  <a:srgbClr val="183247"/>
                </a:solidFill>
                <a:latin typeface="Arial"/>
                <a:ea typeface="Arial"/>
                <a:cs typeface="Arial"/>
              </a:rPr>
              <a:t>Node.js HTTP API  /  Bearer tokens  /  role checks</a:t>
            </a:r>
          </a:p>
        </p:txBody>
      </p:sp>
      <p:sp>
        <p:nvSpPr>
          <p:cNvPr id="11" name="Rectangle 10">
            <a:extLst>
              <a:ext uri="{FF2B5EF4-FFF2-40B4-BE49-F238E27FC236}">
                <a16:creationId xmlns:a16="http://schemas.microsoft.com/office/drawing/2014/main" id="{A7EB574E-23F0-4A08-AB42-9B639158F850}"/>
              </a:ext>
            </a:extLst>
          </p:cNvPr>
          <p:cNvSpPr>
            <a:spLocks noGrp="1"/>
          </p:cNvSpPr>
          <p:nvPr/>
        </p:nvSpPr>
        <p:spPr>
          <a:xfrm>
            <a:off x="742950" y="3009900"/>
            <a:ext cx="10144125" cy="9525"/>
          </a:xfrm>
          <a:prstGeom prst="rect">
            <a:avLst/>
          </a:prstGeom>
          <a:solidFill>
            <a:srgbClr val="D8E2E8"/>
          </a:solidFill>
          <a:ln w="0">
            <a:noFill/>
            <a:prstDash val="solid"/>
          </a:ln>
        </p:spPr>
      </p:sp>
      <p:sp>
        <p:nvSpPr>
          <p:cNvPr id="12" name="Rectangle 11">
            <a:extLst>
              <a:ext uri="{FF2B5EF4-FFF2-40B4-BE49-F238E27FC236}">
                <a16:creationId xmlns:a16="http://schemas.microsoft.com/office/drawing/2014/main" id="{41024D45-42B1-4923-871C-C624E62F6466}"/>
              </a:ext>
            </a:extLst>
          </p:cNvPr>
          <p:cNvSpPr>
            <a:spLocks noGrp="1"/>
          </p:cNvSpPr>
          <p:nvPr/>
        </p:nvSpPr>
        <p:spPr>
          <a:xfrm>
            <a:off x="742950" y="3390900"/>
            <a:ext cx="2524125" cy="266700"/>
          </a:xfrm>
          <a:prstGeom prst="rect">
            <a:avLst/>
          </a:prstGeom>
          <a:noFill/>
          <a:ln w="0">
            <a:noFill/>
            <a:prstDash val="solid"/>
          </a:ln>
        </p:spPr>
        <p:txBody>
          <a:bodyPr anchor="ctr">
            <a:normAutofit/>
          </a:bodyPr>
          <a:lstStyle/>
          <a:p>
            <a:pPr algn="l">
              <a:lnSpc>
                <a:spcPct val="100000"/>
              </a:lnSpc>
              <a:buNone/>
              <a:defRPr sz="1125" b="1">
                <a:solidFill>
                  <a:srgbClr val="087F78"/>
                </a:solidFill>
                <a:latin typeface="Arial"/>
                <a:ea typeface="Arial"/>
                <a:cs typeface="Arial"/>
              </a:defRPr>
            </a:pPr>
            <a:r>
              <a:rPr sz="1125" b="1">
                <a:solidFill>
                  <a:srgbClr val="087F78"/>
                </a:solidFill>
                <a:latin typeface="Arial"/>
                <a:ea typeface="Arial"/>
                <a:cs typeface="Arial"/>
              </a:rPr>
              <a:t>SERVICE DATA</a:t>
            </a:r>
          </a:p>
        </p:txBody>
      </p:sp>
      <p:sp>
        <p:nvSpPr>
          <p:cNvPr id="13" name="Rectangle 12">
            <a:extLst>
              <a:ext uri="{FF2B5EF4-FFF2-40B4-BE49-F238E27FC236}">
                <a16:creationId xmlns:a16="http://schemas.microsoft.com/office/drawing/2014/main" id="{52CF04F0-ADD6-4416-B627-A1A54453A26F}"/>
              </a:ext>
            </a:extLst>
          </p:cNvPr>
          <p:cNvSpPr>
            <a:spLocks noGrp="1"/>
          </p:cNvSpPr>
          <p:nvPr/>
        </p:nvSpPr>
        <p:spPr>
          <a:xfrm>
            <a:off x="3429000" y="3371850"/>
            <a:ext cx="7524750" cy="400050"/>
          </a:xfrm>
          <a:prstGeom prst="rect">
            <a:avLst/>
          </a:prstGeom>
          <a:noFill/>
          <a:ln w="0">
            <a:noFill/>
            <a:prstDash val="solid"/>
          </a:ln>
        </p:spPr>
        <p:txBody>
          <a:bodyPr anchor="t">
            <a:normAutofit/>
          </a:bodyPr>
          <a:lstStyle/>
          <a:p>
            <a:pPr algn="l">
              <a:lnSpc>
                <a:spcPct val="100000"/>
              </a:lnSpc>
              <a:buNone/>
              <a:defRPr sz="1575" b="0">
                <a:solidFill>
                  <a:srgbClr val="183247"/>
                </a:solidFill>
                <a:latin typeface="Arial"/>
                <a:ea typeface="Arial"/>
                <a:cs typeface="Arial"/>
              </a:defRPr>
            </a:pPr>
            <a:r>
              <a:rPr sz="1575" b="0">
                <a:solidFill>
                  <a:srgbClr val="183247"/>
                </a:solidFill>
                <a:latin typeface="Arial"/>
                <a:ea typeface="Arial"/>
                <a:cs typeface="Arial"/>
              </a:rPr>
              <a:t>SQLite  /  users, machines, parts, requests, logs, audit</a:t>
            </a:r>
          </a:p>
        </p:txBody>
      </p:sp>
      <p:sp>
        <p:nvSpPr>
          <p:cNvPr id="14" name="Rectangle 13">
            <a:extLst>
              <a:ext uri="{FF2B5EF4-FFF2-40B4-BE49-F238E27FC236}">
                <a16:creationId xmlns:a16="http://schemas.microsoft.com/office/drawing/2014/main" id="{57F003FD-6AF8-4C1E-886F-F00711656AAA}"/>
              </a:ext>
            </a:extLst>
          </p:cNvPr>
          <p:cNvSpPr>
            <a:spLocks noGrp="1"/>
          </p:cNvSpPr>
          <p:nvPr/>
        </p:nvSpPr>
        <p:spPr>
          <a:xfrm>
            <a:off x="742950" y="3876675"/>
            <a:ext cx="10144125" cy="9525"/>
          </a:xfrm>
          <a:prstGeom prst="rect">
            <a:avLst/>
          </a:prstGeom>
          <a:solidFill>
            <a:srgbClr val="D8E2E8"/>
          </a:solidFill>
          <a:ln w="0">
            <a:noFill/>
            <a:prstDash val="solid"/>
          </a:ln>
        </p:spPr>
      </p:sp>
      <p:sp>
        <p:nvSpPr>
          <p:cNvPr id="15" name="Rectangle 14">
            <a:extLst>
              <a:ext uri="{FF2B5EF4-FFF2-40B4-BE49-F238E27FC236}">
                <a16:creationId xmlns:a16="http://schemas.microsoft.com/office/drawing/2014/main" id="{AA86AFE4-BD20-49A2-9DB3-515403617375}"/>
              </a:ext>
            </a:extLst>
          </p:cNvPr>
          <p:cNvSpPr>
            <a:spLocks noGrp="1"/>
          </p:cNvSpPr>
          <p:nvPr/>
        </p:nvSpPr>
        <p:spPr>
          <a:xfrm>
            <a:off x="742950" y="4257675"/>
            <a:ext cx="2524125" cy="266700"/>
          </a:xfrm>
          <a:prstGeom prst="rect">
            <a:avLst/>
          </a:prstGeom>
          <a:noFill/>
          <a:ln w="0">
            <a:noFill/>
            <a:prstDash val="solid"/>
          </a:ln>
        </p:spPr>
        <p:txBody>
          <a:bodyPr anchor="ctr">
            <a:normAutofit/>
          </a:bodyPr>
          <a:lstStyle/>
          <a:p>
            <a:pPr algn="l">
              <a:lnSpc>
                <a:spcPct val="100000"/>
              </a:lnSpc>
              <a:buNone/>
              <a:defRPr sz="1125" b="1">
                <a:solidFill>
                  <a:srgbClr val="087F78"/>
                </a:solidFill>
                <a:latin typeface="Arial"/>
                <a:ea typeface="Arial"/>
                <a:cs typeface="Arial"/>
              </a:defRPr>
            </a:pPr>
            <a:r>
              <a:rPr sz="1125" b="1">
                <a:solidFill>
                  <a:srgbClr val="087F78"/>
                </a:solidFill>
                <a:latin typeface="Arial"/>
                <a:ea typeface="Arial"/>
                <a:cs typeface="Arial"/>
              </a:rPr>
              <a:t>EXTERNAL CATALOG</a:t>
            </a:r>
          </a:p>
        </p:txBody>
      </p:sp>
      <p:sp>
        <p:nvSpPr>
          <p:cNvPr id="16" name="Rectangle 15">
            <a:extLst>
              <a:ext uri="{FF2B5EF4-FFF2-40B4-BE49-F238E27FC236}">
                <a16:creationId xmlns:a16="http://schemas.microsoft.com/office/drawing/2014/main" id="{0DCAEF5D-3860-4545-8497-80BE73702FD6}"/>
              </a:ext>
            </a:extLst>
          </p:cNvPr>
          <p:cNvSpPr>
            <a:spLocks noGrp="1"/>
          </p:cNvSpPr>
          <p:nvPr/>
        </p:nvSpPr>
        <p:spPr>
          <a:xfrm>
            <a:off x="3429000" y="4238625"/>
            <a:ext cx="7524750" cy="400050"/>
          </a:xfrm>
          <a:prstGeom prst="rect">
            <a:avLst/>
          </a:prstGeom>
          <a:noFill/>
          <a:ln w="0">
            <a:noFill/>
            <a:prstDash val="solid"/>
          </a:ln>
        </p:spPr>
        <p:txBody>
          <a:bodyPr anchor="t">
            <a:normAutofit/>
          </a:bodyPr>
          <a:lstStyle/>
          <a:p>
            <a:pPr algn="l">
              <a:lnSpc>
                <a:spcPct val="100000"/>
              </a:lnSpc>
              <a:buNone/>
              <a:defRPr sz="1575" b="0">
                <a:solidFill>
                  <a:srgbClr val="183247"/>
                </a:solidFill>
                <a:latin typeface="Arial"/>
                <a:ea typeface="Arial"/>
                <a:cs typeface="Arial"/>
              </a:defRPr>
            </a:pPr>
            <a:r>
              <a:rPr sz="1575" b="0">
                <a:solidFill>
                  <a:srgbClr val="183247"/>
                </a:solidFill>
                <a:latin typeface="Arial"/>
                <a:ea typeface="Arial"/>
                <a:cs typeface="Arial"/>
              </a:rPr>
              <a:t>Optional Supabase REST reads for technician profiles</a:t>
            </a:r>
          </a:p>
        </p:txBody>
      </p:sp>
      <p:sp>
        <p:nvSpPr>
          <p:cNvPr id="17" name="Rectangle 16">
            <a:extLst>
              <a:ext uri="{FF2B5EF4-FFF2-40B4-BE49-F238E27FC236}">
                <a16:creationId xmlns:a16="http://schemas.microsoft.com/office/drawing/2014/main" id="{A3A46724-C562-4C07-9B17-004A7B51820A}"/>
              </a:ext>
            </a:extLst>
          </p:cNvPr>
          <p:cNvSpPr>
            <a:spLocks noGrp="1"/>
          </p:cNvSpPr>
          <p:nvPr/>
        </p:nvSpPr>
        <p:spPr>
          <a:xfrm>
            <a:off x="742950" y="5276850"/>
            <a:ext cx="38100" cy="590550"/>
          </a:xfrm>
          <a:prstGeom prst="rect">
            <a:avLst/>
          </a:prstGeom>
          <a:solidFill>
            <a:srgbClr val="16B8A6"/>
          </a:solidFill>
          <a:ln w="0">
            <a:noFill/>
            <a:prstDash val="solid"/>
          </a:ln>
        </p:spPr>
      </p:sp>
      <p:sp>
        <p:nvSpPr>
          <p:cNvPr id="18" name="Rectangle 17">
            <a:extLst>
              <a:ext uri="{FF2B5EF4-FFF2-40B4-BE49-F238E27FC236}">
                <a16:creationId xmlns:a16="http://schemas.microsoft.com/office/drawing/2014/main" id="{8D31835D-F6F6-4C3D-9DA9-9917B00A6C2B}"/>
              </a:ext>
            </a:extLst>
          </p:cNvPr>
          <p:cNvSpPr>
            <a:spLocks noGrp="1"/>
          </p:cNvSpPr>
          <p:nvPr/>
        </p:nvSpPr>
        <p:spPr>
          <a:xfrm>
            <a:off x="952500" y="5257800"/>
            <a:ext cx="9953625" cy="647700"/>
          </a:xfrm>
          <a:prstGeom prst="rect">
            <a:avLst/>
          </a:prstGeom>
          <a:noFill/>
          <a:ln w="0">
            <a:noFill/>
            <a:prstDash val="solid"/>
          </a:ln>
        </p:spPr>
        <p:txBody>
          <a:bodyPr anchor="t">
            <a:normAutofit/>
          </a:bodyPr>
          <a:lstStyle/>
          <a:p>
            <a:pPr algn="l">
              <a:lnSpc>
                <a:spcPct val="100000"/>
              </a:lnSpc>
              <a:buNone/>
              <a:defRPr sz="1425" b="0">
                <a:solidFill>
                  <a:srgbClr val="597083"/>
                </a:solidFill>
                <a:latin typeface="Arial"/>
                <a:ea typeface="Arial"/>
                <a:cs typeface="Arial"/>
              </a:defRPr>
            </a:pPr>
            <a:r>
              <a:rPr sz="1425" b="0">
                <a:solidFill>
                  <a:srgbClr val="597083"/>
                </a:solidFill>
                <a:latin typeface="Arial"/>
                <a:ea typeface="Arial"/>
                <a:cs typeface="Arial"/>
              </a:rPr>
              <a:t>Mobile, IoT, analytics and AI/ML are extension opportunities in the brief, not capabilities shown in this build.</a:t>
            </a:r>
          </a:p>
        </p:txBody>
      </p:sp>
    </p:spTree>
    <p:extLst>
      <p:ext uri="{BB962C8B-B14F-4D97-AF65-F5344CB8AC3E}">
        <p14:creationId xmlns:p14="http://schemas.microsoft.com/office/powerpoint/2010/main" val="885787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31E2A60-F557-4ACE-AFE2-E251AF448D13}"/>
              </a:ext>
            </a:extLst>
          </p:cNvPr>
          <p:cNvSpPr>
            <a:spLocks noGrp="1"/>
          </p:cNvSpPr>
          <p:nvPr/>
        </p:nvSpPr>
        <p:spPr>
          <a:xfrm>
            <a:off x="0" y="0"/>
            <a:ext cx="133350" cy="6858000"/>
          </a:xfrm>
          <a:prstGeom prst="rect">
            <a:avLst/>
          </a:prstGeom>
          <a:solidFill>
            <a:srgbClr val="16B8A6"/>
          </a:solidFill>
          <a:ln w="0">
            <a:noFill/>
            <a:prstDash val="solid"/>
          </a:ln>
        </p:spPr>
      </p:sp>
      <p:sp>
        <p:nvSpPr>
          <p:cNvPr id="2" name="Rectangle 1">
            <a:extLst>
              <a:ext uri="{FF2B5EF4-FFF2-40B4-BE49-F238E27FC236}">
                <a16:creationId xmlns:a16="http://schemas.microsoft.com/office/drawing/2014/main" id="{B291CF1D-2A23-42CA-AC0C-F3FA84D4B785}"/>
              </a:ext>
            </a:extLst>
          </p:cNvPr>
          <p:cNvSpPr>
            <a:spLocks noGrp="1"/>
          </p:cNvSpPr>
          <p:nvPr/>
        </p:nvSpPr>
        <p:spPr>
          <a:xfrm>
            <a:off x="666750" y="304800"/>
            <a:ext cx="6667500" cy="247650"/>
          </a:xfrm>
          <a:prstGeom prst="rect">
            <a:avLst/>
          </a:prstGeom>
          <a:noFill/>
          <a:ln w="0">
            <a:noFill/>
            <a:prstDash val="solid"/>
          </a:ln>
        </p:spPr>
        <p:txBody>
          <a:bodyPr anchor="ctr">
            <a:normAutofit fontScale="97619"/>
          </a:bodyPr>
          <a:lstStyle/>
          <a:p>
            <a:pPr algn="l">
              <a:lnSpc>
                <a:spcPct val="100000"/>
              </a:lnSpc>
              <a:buNone/>
              <a:defRPr sz="1050" b="1">
                <a:solidFill>
                  <a:srgbClr val="087F78"/>
                </a:solidFill>
                <a:latin typeface="Arial"/>
                <a:ea typeface="Arial"/>
                <a:cs typeface="Arial"/>
              </a:defRPr>
            </a:pPr>
            <a:r>
              <a:rPr sz="1050" b="1">
                <a:solidFill>
                  <a:srgbClr val="087F78"/>
                </a:solidFill>
                <a:latin typeface="Arial"/>
                <a:ea typeface="Arial"/>
                <a:cs typeface="Arial"/>
              </a:rPr>
              <a:t>ACCESS AND TRACEABILITY</a:t>
            </a:r>
          </a:p>
        </p:txBody>
      </p:sp>
      <p:sp>
        <p:nvSpPr>
          <p:cNvPr id="3" name="Rectangle 2">
            <a:extLst>
              <a:ext uri="{FF2B5EF4-FFF2-40B4-BE49-F238E27FC236}">
                <a16:creationId xmlns:a16="http://schemas.microsoft.com/office/drawing/2014/main" id="{59F16D95-A830-4D57-A083-9BEEA4DB4F85}"/>
              </a:ext>
            </a:extLst>
          </p:cNvPr>
          <p:cNvSpPr>
            <a:spLocks noGrp="1"/>
          </p:cNvSpPr>
          <p:nvPr/>
        </p:nvSpPr>
        <p:spPr>
          <a:xfrm>
            <a:off x="666750" y="647700"/>
            <a:ext cx="10763250" cy="685800"/>
          </a:xfrm>
          <a:prstGeom prst="rect">
            <a:avLst/>
          </a:prstGeom>
          <a:noFill/>
          <a:ln w="0">
            <a:noFill/>
            <a:prstDash val="solid"/>
          </a:ln>
        </p:spPr>
        <p:txBody>
          <a:bodyPr anchor="ctr">
            <a:normAutofit/>
          </a:bodyPr>
          <a:lstStyle/>
          <a:p>
            <a:pPr algn="l">
              <a:lnSpc>
                <a:spcPct val="100000"/>
              </a:lnSpc>
              <a:buNone/>
              <a:defRPr sz="3600" b="1">
                <a:solidFill>
                  <a:srgbClr val="0B1F33"/>
                </a:solidFill>
                <a:latin typeface="Arial"/>
                <a:ea typeface="Arial"/>
                <a:cs typeface="Arial"/>
              </a:defRPr>
            </a:pPr>
            <a:r>
              <a:rPr sz="3600" b="1">
                <a:solidFill>
                  <a:srgbClr val="0B1F33"/>
                </a:solidFill>
                <a:latin typeface="Arial"/>
                <a:ea typeface="Arial"/>
                <a:cs typeface="Arial"/>
              </a:rPr>
              <a:t>Each role sees actions it is allowed to take</a:t>
            </a:r>
          </a:p>
        </p:txBody>
      </p:sp>
      <p:sp>
        <p:nvSpPr>
          <p:cNvPr id="4" name="Rectangle 3">
            <a:extLst>
              <a:ext uri="{FF2B5EF4-FFF2-40B4-BE49-F238E27FC236}">
                <a16:creationId xmlns:a16="http://schemas.microsoft.com/office/drawing/2014/main" id="{9FBA062B-7C3B-4B02-9755-7CBD30FFFDBA}"/>
              </a:ext>
            </a:extLst>
          </p:cNvPr>
          <p:cNvSpPr>
            <a:spLocks noGrp="1"/>
          </p:cNvSpPr>
          <p:nvPr/>
        </p:nvSpPr>
        <p:spPr>
          <a:xfrm>
            <a:off x="666750" y="6267450"/>
            <a:ext cx="10858500" cy="9525"/>
          </a:xfrm>
          <a:prstGeom prst="rect">
            <a:avLst/>
          </a:prstGeom>
          <a:solidFill>
            <a:srgbClr val="D8E2E8"/>
          </a:solidFill>
          <a:ln w="0">
            <a:noFill/>
            <a:prstDash val="solid"/>
          </a:ln>
        </p:spPr>
      </p:sp>
      <p:sp>
        <p:nvSpPr>
          <p:cNvPr id="5" name="Rectangle 4">
            <a:extLst>
              <a:ext uri="{FF2B5EF4-FFF2-40B4-BE49-F238E27FC236}">
                <a16:creationId xmlns:a16="http://schemas.microsoft.com/office/drawing/2014/main" id="{9883C03E-1F04-4A34-BD60-A24753D9644E}"/>
              </a:ext>
            </a:extLst>
          </p:cNvPr>
          <p:cNvSpPr>
            <a:spLocks noGrp="1"/>
          </p:cNvSpPr>
          <p:nvPr/>
        </p:nvSpPr>
        <p:spPr>
          <a:xfrm>
            <a:off x="666750" y="6343650"/>
            <a:ext cx="8572500" cy="209550"/>
          </a:xfrm>
          <a:prstGeom prst="rect">
            <a:avLst/>
          </a:prstGeom>
          <a:noFill/>
          <a:ln w="0">
            <a:noFill/>
            <a:prstDash val="solid"/>
          </a:ln>
        </p:spPr>
        <p:txBody>
          <a:bodyPr anchor="ctr">
            <a:normAutofit fontScale="86111"/>
          </a:bodyPr>
          <a:lstStyle/>
          <a:p>
            <a:pPr algn="l">
              <a:lnSpc>
                <a:spcPct val="100000"/>
              </a:lnSpc>
              <a:buNone/>
              <a:defRPr sz="900" b="1">
                <a:solidFill>
                  <a:srgbClr val="597083"/>
                </a:solidFill>
                <a:latin typeface="Arial"/>
                <a:ea typeface="Arial"/>
                <a:cs typeface="Arial"/>
              </a:defRPr>
            </a:pPr>
            <a:r>
              <a:rPr sz="900" b="1">
                <a:solidFill>
                  <a:srgbClr val="597083"/>
                </a:solidFill>
                <a:latin typeface="Arial"/>
                <a:ea typeface="Arial"/>
                <a:cs typeface="Arial"/>
              </a:rPr>
              <a:t>DATAQUEST 3.0  /  DURANTHAM</a:t>
            </a:r>
          </a:p>
        </p:txBody>
      </p:sp>
      <p:sp>
        <p:nvSpPr>
          <p:cNvPr id="6" name="Rectangle 5">
            <a:extLst>
              <a:ext uri="{FF2B5EF4-FFF2-40B4-BE49-F238E27FC236}">
                <a16:creationId xmlns:a16="http://schemas.microsoft.com/office/drawing/2014/main" id="{2D01B888-09BC-43E1-8AC3-E82DEA8CB9E5}"/>
              </a:ext>
            </a:extLst>
          </p:cNvPr>
          <p:cNvSpPr>
            <a:spLocks noGrp="1"/>
          </p:cNvSpPr>
          <p:nvPr/>
        </p:nvSpPr>
        <p:spPr>
          <a:xfrm>
            <a:off x="742950" y="1695450"/>
            <a:ext cx="2381250" cy="209550"/>
          </a:xfrm>
          <a:prstGeom prst="rect">
            <a:avLst/>
          </a:prstGeom>
          <a:noFill/>
          <a:ln w="0">
            <a:noFill/>
            <a:prstDash val="solid"/>
          </a:ln>
        </p:spPr>
        <p:txBody>
          <a:bodyPr anchor="ctr">
            <a:normAutofit fontScale="79487"/>
          </a:bodyPr>
          <a:lstStyle/>
          <a:p>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REQUESTER</a:t>
            </a:r>
          </a:p>
        </p:txBody>
      </p:sp>
      <p:sp>
        <p:nvSpPr>
          <p:cNvPr id="7" name="Rectangle 6">
            <a:extLst>
              <a:ext uri="{FF2B5EF4-FFF2-40B4-BE49-F238E27FC236}">
                <a16:creationId xmlns:a16="http://schemas.microsoft.com/office/drawing/2014/main" id="{D7F8F95D-5CA4-4818-8C1C-BC674E0159FE}"/>
              </a:ext>
            </a:extLst>
          </p:cNvPr>
          <p:cNvSpPr>
            <a:spLocks noGrp="1"/>
          </p:cNvSpPr>
          <p:nvPr/>
        </p:nvSpPr>
        <p:spPr>
          <a:xfrm>
            <a:off x="3314700" y="1666875"/>
            <a:ext cx="7762875" cy="533400"/>
          </a:xfrm>
          <a:prstGeom prst="rect">
            <a:avLst/>
          </a:prstGeom>
          <a:noFill/>
          <a:ln w="0">
            <a:noFill/>
            <a:prstDash val="solid"/>
          </a:ln>
        </p:spPr>
        <p:txBody>
          <a:bodyPr anchor="t">
            <a:normAutofit/>
          </a:bodyPr>
          <a:lstStyle/>
          <a:p>
            <a:pPr algn="l">
              <a:lnSpc>
                <a:spcPct val="100000"/>
              </a:lnSpc>
              <a:buNone/>
              <a:defRPr sz="1575" b="0">
                <a:solidFill>
                  <a:srgbClr val="183247"/>
                </a:solidFill>
                <a:latin typeface="Arial"/>
                <a:ea typeface="Arial"/>
                <a:cs typeface="Arial"/>
              </a:defRPr>
            </a:pPr>
            <a:r>
              <a:rPr sz="1575" b="0">
                <a:solidFill>
                  <a:srgbClr val="183247"/>
                </a:solidFill>
                <a:latin typeface="Arial"/>
                <a:ea typeface="Arial"/>
                <a:cs typeface="Arial"/>
              </a:rPr>
              <a:t>Create requests; follow own work; receive completion notices.</a:t>
            </a:r>
          </a:p>
        </p:txBody>
      </p:sp>
      <p:sp>
        <p:nvSpPr>
          <p:cNvPr id="8" name="Rectangle 7">
            <a:extLst>
              <a:ext uri="{FF2B5EF4-FFF2-40B4-BE49-F238E27FC236}">
                <a16:creationId xmlns:a16="http://schemas.microsoft.com/office/drawing/2014/main" id="{2299D011-83C1-4531-AF41-3DC618FF909A}"/>
              </a:ext>
            </a:extLst>
          </p:cNvPr>
          <p:cNvSpPr>
            <a:spLocks noGrp="1"/>
          </p:cNvSpPr>
          <p:nvPr/>
        </p:nvSpPr>
        <p:spPr>
          <a:xfrm>
            <a:off x="742950" y="2257425"/>
            <a:ext cx="10287000" cy="9525"/>
          </a:xfrm>
          <a:prstGeom prst="rect">
            <a:avLst/>
          </a:prstGeom>
          <a:solidFill>
            <a:srgbClr val="D8E2E8"/>
          </a:solidFill>
          <a:ln w="0">
            <a:noFill/>
            <a:prstDash val="solid"/>
          </a:ln>
        </p:spPr>
      </p:sp>
      <p:sp>
        <p:nvSpPr>
          <p:cNvPr id="9" name="Rectangle 8">
            <a:extLst>
              <a:ext uri="{FF2B5EF4-FFF2-40B4-BE49-F238E27FC236}">
                <a16:creationId xmlns:a16="http://schemas.microsoft.com/office/drawing/2014/main" id="{A2C26B3E-86A3-4053-9C5D-C4D03B79E2A3}"/>
              </a:ext>
            </a:extLst>
          </p:cNvPr>
          <p:cNvSpPr>
            <a:spLocks noGrp="1"/>
          </p:cNvSpPr>
          <p:nvPr/>
        </p:nvSpPr>
        <p:spPr>
          <a:xfrm>
            <a:off x="742950" y="2552700"/>
            <a:ext cx="2381250" cy="209550"/>
          </a:xfrm>
          <a:prstGeom prst="rect">
            <a:avLst/>
          </a:prstGeom>
          <a:noFill/>
          <a:ln w="0">
            <a:noFill/>
            <a:prstDash val="solid"/>
          </a:ln>
        </p:spPr>
        <p:txBody>
          <a:bodyPr anchor="ctr">
            <a:normAutofit fontScale="79487"/>
          </a:bodyPr>
          <a:lstStyle/>
          <a:p>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DISPATCHER</a:t>
            </a:r>
          </a:p>
        </p:txBody>
      </p:sp>
      <p:sp>
        <p:nvSpPr>
          <p:cNvPr id="10" name="Rectangle 9">
            <a:extLst>
              <a:ext uri="{FF2B5EF4-FFF2-40B4-BE49-F238E27FC236}">
                <a16:creationId xmlns:a16="http://schemas.microsoft.com/office/drawing/2014/main" id="{57498936-CF63-4B5E-AF40-B41F9A851FB4}"/>
              </a:ext>
            </a:extLst>
          </p:cNvPr>
          <p:cNvSpPr>
            <a:spLocks noGrp="1"/>
          </p:cNvSpPr>
          <p:nvPr/>
        </p:nvSpPr>
        <p:spPr>
          <a:xfrm>
            <a:off x="3314700" y="2524125"/>
            <a:ext cx="7762875" cy="533400"/>
          </a:xfrm>
          <a:prstGeom prst="rect">
            <a:avLst/>
          </a:prstGeom>
          <a:noFill/>
          <a:ln w="0">
            <a:noFill/>
            <a:prstDash val="solid"/>
          </a:ln>
        </p:spPr>
        <p:txBody>
          <a:bodyPr anchor="t">
            <a:normAutofit/>
          </a:bodyPr>
          <a:lstStyle/>
          <a:p>
            <a:pPr algn="l">
              <a:lnSpc>
                <a:spcPct val="100000"/>
              </a:lnSpc>
              <a:buNone/>
              <a:defRPr sz="1575" b="0">
                <a:solidFill>
                  <a:srgbClr val="183247"/>
                </a:solidFill>
                <a:latin typeface="Arial"/>
                <a:ea typeface="Arial"/>
                <a:cs typeface="Arial"/>
              </a:defRPr>
            </a:pPr>
            <a:r>
              <a:rPr sz="1575" b="0">
                <a:solidFill>
                  <a:srgbClr val="183247"/>
                </a:solidFill>
                <a:latin typeface="Arial"/>
                <a:ea typeface="Arial"/>
                <a:cs typeface="Arial"/>
              </a:rPr>
              <a:t>Review, approve, assign and reassign work; monitor operations.</a:t>
            </a:r>
          </a:p>
        </p:txBody>
      </p:sp>
      <p:sp>
        <p:nvSpPr>
          <p:cNvPr id="11" name="Rectangle 10">
            <a:extLst>
              <a:ext uri="{FF2B5EF4-FFF2-40B4-BE49-F238E27FC236}">
                <a16:creationId xmlns:a16="http://schemas.microsoft.com/office/drawing/2014/main" id="{8B01CB4D-4FA6-4DF5-8ACC-308A0F3AEEBE}"/>
              </a:ext>
            </a:extLst>
          </p:cNvPr>
          <p:cNvSpPr>
            <a:spLocks noGrp="1"/>
          </p:cNvSpPr>
          <p:nvPr/>
        </p:nvSpPr>
        <p:spPr>
          <a:xfrm>
            <a:off x="742950" y="3114675"/>
            <a:ext cx="10287000" cy="9525"/>
          </a:xfrm>
          <a:prstGeom prst="rect">
            <a:avLst/>
          </a:prstGeom>
          <a:solidFill>
            <a:srgbClr val="D8E2E8"/>
          </a:solidFill>
          <a:ln w="0">
            <a:noFill/>
            <a:prstDash val="solid"/>
          </a:ln>
        </p:spPr>
      </p:sp>
      <p:sp>
        <p:nvSpPr>
          <p:cNvPr id="12" name="Rectangle 11">
            <a:extLst>
              <a:ext uri="{FF2B5EF4-FFF2-40B4-BE49-F238E27FC236}">
                <a16:creationId xmlns:a16="http://schemas.microsoft.com/office/drawing/2014/main" id="{80923506-7B40-44A3-A5DD-BE42ACCE5616}"/>
              </a:ext>
            </a:extLst>
          </p:cNvPr>
          <p:cNvSpPr>
            <a:spLocks noGrp="1"/>
          </p:cNvSpPr>
          <p:nvPr/>
        </p:nvSpPr>
        <p:spPr>
          <a:xfrm>
            <a:off x="742950" y="3409950"/>
            <a:ext cx="2381250" cy="209550"/>
          </a:xfrm>
          <a:prstGeom prst="rect">
            <a:avLst/>
          </a:prstGeom>
          <a:noFill/>
          <a:ln w="0">
            <a:noFill/>
            <a:prstDash val="solid"/>
          </a:ln>
        </p:spPr>
        <p:txBody>
          <a:bodyPr anchor="ctr">
            <a:normAutofit fontScale="79487"/>
          </a:bodyPr>
          <a:lstStyle/>
          <a:p>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TECHNICIAN</a:t>
            </a:r>
          </a:p>
        </p:txBody>
      </p:sp>
      <p:sp>
        <p:nvSpPr>
          <p:cNvPr id="13" name="Rectangle 12">
            <a:extLst>
              <a:ext uri="{FF2B5EF4-FFF2-40B4-BE49-F238E27FC236}">
                <a16:creationId xmlns:a16="http://schemas.microsoft.com/office/drawing/2014/main" id="{91D4E12F-A6A3-44A4-A862-73558F31291D}"/>
              </a:ext>
            </a:extLst>
          </p:cNvPr>
          <p:cNvSpPr>
            <a:spLocks noGrp="1"/>
          </p:cNvSpPr>
          <p:nvPr/>
        </p:nvSpPr>
        <p:spPr>
          <a:xfrm>
            <a:off x="3314700" y="3381375"/>
            <a:ext cx="7762875" cy="533400"/>
          </a:xfrm>
          <a:prstGeom prst="rect">
            <a:avLst/>
          </a:prstGeom>
          <a:noFill/>
          <a:ln w="0">
            <a:noFill/>
            <a:prstDash val="solid"/>
          </a:ln>
        </p:spPr>
        <p:txBody>
          <a:bodyPr anchor="t">
            <a:normAutofit/>
          </a:bodyPr>
          <a:lstStyle/>
          <a:p>
            <a:pPr algn="l">
              <a:lnSpc>
                <a:spcPct val="100000"/>
              </a:lnSpc>
              <a:buNone/>
              <a:defRPr sz="1575" b="0">
                <a:solidFill>
                  <a:srgbClr val="183247"/>
                </a:solidFill>
                <a:latin typeface="Arial"/>
                <a:ea typeface="Arial"/>
                <a:cs typeface="Arial"/>
              </a:defRPr>
            </a:pPr>
            <a:r>
              <a:rPr sz="1575" b="0">
                <a:solidFill>
                  <a:srgbClr val="183247"/>
                </a:solidFill>
                <a:latin typeface="Arial"/>
                <a:ea typeface="Arial"/>
                <a:cs typeface="Arial"/>
              </a:rPr>
              <a:t>View assigned work; start, log, report exceptions and complete.</a:t>
            </a:r>
          </a:p>
        </p:txBody>
      </p:sp>
      <p:sp>
        <p:nvSpPr>
          <p:cNvPr id="14" name="Rectangle 13">
            <a:extLst>
              <a:ext uri="{FF2B5EF4-FFF2-40B4-BE49-F238E27FC236}">
                <a16:creationId xmlns:a16="http://schemas.microsoft.com/office/drawing/2014/main" id="{45747F69-C529-41C5-8969-3CA5F1A762FB}"/>
              </a:ext>
            </a:extLst>
          </p:cNvPr>
          <p:cNvSpPr>
            <a:spLocks noGrp="1"/>
          </p:cNvSpPr>
          <p:nvPr/>
        </p:nvSpPr>
        <p:spPr>
          <a:xfrm>
            <a:off x="742950" y="3971925"/>
            <a:ext cx="10287000" cy="9525"/>
          </a:xfrm>
          <a:prstGeom prst="rect">
            <a:avLst/>
          </a:prstGeom>
          <a:solidFill>
            <a:srgbClr val="D8E2E8"/>
          </a:solidFill>
          <a:ln w="0">
            <a:noFill/>
            <a:prstDash val="solid"/>
          </a:ln>
        </p:spPr>
      </p:sp>
      <p:sp>
        <p:nvSpPr>
          <p:cNvPr id="15" name="Rectangle 14">
            <a:extLst>
              <a:ext uri="{FF2B5EF4-FFF2-40B4-BE49-F238E27FC236}">
                <a16:creationId xmlns:a16="http://schemas.microsoft.com/office/drawing/2014/main" id="{C7907FE4-8550-4940-BD10-6227F3EB3D11}"/>
              </a:ext>
            </a:extLst>
          </p:cNvPr>
          <p:cNvSpPr>
            <a:spLocks noGrp="1"/>
          </p:cNvSpPr>
          <p:nvPr/>
        </p:nvSpPr>
        <p:spPr>
          <a:xfrm>
            <a:off x="742950" y="4267200"/>
            <a:ext cx="2381250" cy="209550"/>
          </a:xfrm>
          <a:prstGeom prst="rect">
            <a:avLst/>
          </a:prstGeom>
          <a:noFill/>
          <a:ln w="0">
            <a:noFill/>
            <a:prstDash val="solid"/>
          </a:ln>
        </p:spPr>
        <p:txBody>
          <a:bodyPr anchor="ctr">
            <a:normAutofit fontScale="79487"/>
          </a:bodyPr>
          <a:lstStyle/>
          <a:p>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ADMIN</a:t>
            </a:r>
          </a:p>
        </p:txBody>
      </p:sp>
      <p:sp>
        <p:nvSpPr>
          <p:cNvPr id="16" name="Rectangle 15">
            <a:extLst>
              <a:ext uri="{FF2B5EF4-FFF2-40B4-BE49-F238E27FC236}">
                <a16:creationId xmlns:a16="http://schemas.microsoft.com/office/drawing/2014/main" id="{F5C3AC78-27F8-4B37-93D1-C4395B304671}"/>
              </a:ext>
            </a:extLst>
          </p:cNvPr>
          <p:cNvSpPr>
            <a:spLocks noGrp="1"/>
          </p:cNvSpPr>
          <p:nvPr/>
        </p:nvSpPr>
        <p:spPr>
          <a:xfrm>
            <a:off x="3314700" y="4238625"/>
            <a:ext cx="7762875" cy="533400"/>
          </a:xfrm>
          <a:prstGeom prst="rect">
            <a:avLst/>
          </a:prstGeom>
          <a:noFill/>
          <a:ln w="0">
            <a:noFill/>
            <a:prstDash val="solid"/>
          </a:ln>
        </p:spPr>
        <p:txBody>
          <a:bodyPr anchor="t">
            <a:normAutofit/>
          </a:bodyPr>
          <a:lstStyle/>
          <a:p>
            <a:pPr algn="l">
              <a:lnSpc>
                <a:spcPct val="100000"/>
              </a:lnSpc>
              <a:buNone/>
              <a:defRPr sz="1575" b="0">
                <a:solidFill>
                  <a:srgbClr val="183247"/>
                </a:solidFill>
                <a:latin typeface="Arial"/>
                <a:ea typeface="Arial"/>
                <a:cs typeface="Arial"/>
              </a:defRPr>
            </a:pPr>
            <a:r>
              <a:rPr sz="1575" b="0">
                <a:solidFill>
                  <a:srgbClr val="183247"/>
                </a:solidFill>
                <a:latin typeface="Arial"/>
                <a:ea typeface="Arial"/>
                <a:cs typeface="Arial"/>
              </a:rPr>
              <a:t>Manage users and operational setup; review the full dashboard.</a:t>
            </a:r>
          </a:p>
        </p:txBody>
      </p:sp>
      <p:sp>
        <p:nvSpPr>
          <p:cNvPr id="17" name="Rectangle 16">
            <a:extLst>
              <a:ext uri="{FF2B5EF4-FFF2-40B4-BE49-F238E27FC236}">
                <a16:creationId xmlns:a16="http://schemas.microsoft.com/office/drawing/2014/main" id="{3F9F326C-A622-42AC-9E9A-DF5FE1E4058D}"/>
              </a:ext>
            </a:extLst>
          </p:cNvPr>
          <p:cNvSpPr>
            <a:spLocks noGrp="1"/>
          </p:cNvSpPr>
          <p:nvPr/>
        </p:nvSpPr>
        <p:spPr>
          <a:xfrm>
            <a:off x="742950" y="5295900"/>
            <a:ext cx="10477500" cy="609600"/>
          </a:xfrm>
          <a:prstGeom prst="rect">
            <a:avLst/>
          </a:prstGeom>
          <a:noFill/>
          <a:ln w="0">
            <a:noFill/>
            <a:prstDash val="solid"/>
          </a:ln>
        </p:spPr>
        <p:txBody>
          <a:bodyPr anchor="t">
            <a:normAutofit/>
          </a:bodyPr>
          <a:lstStyle/>
          <a:p>
            <a:pPr algn="l">
              <a:lnSpc>
                <a:spcPct val="100000"/>
              </a:lnSpc>
              <a:buNone/>
              <a:defRPr sz="1350" b="1">
                <a:solidFill>
                  <a:srgbClr val="087F78"/>
                </a:solidFill>
                <a:latin typeface="Arial"/>
                <a:ea typeface="Arial"/>
                <a:cs typeface="Arial"/>
              </a:defRPr>
            </a:pPr>
            <a:r>
              <a:rPr sz="1350" b="1">
                <a:solidFill>
                  <a:srgbClr val="087F78"/>
                </a:solidFill>
                <a:latin typeface="Arial"/>
                <a:ea typeface="Arial"/>
                <a:cs typeface="Arial"/>
              </a:rPr>
              <a:t>Salted password hashes  /  expiring signed tokens  /  per-action role checks  /  request logs and audit events</a:t>
            </a:r>
          </a:p>
        </p:txBody>
      </p:sp>
    </p:spTree>
    <p:extLst>
      <p:ext uri="{BB962C8B-B14F-4D97-AF65-F5344CB8AC3E}">
        <p14:creationId xmlns:p14="http://schemas.microsoft.com/office/powerpoint/2010/main" val="440016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8C71F3B-ED12-4374-A885-492B86F1EA75}"/>
              </a:ext>
            </a:extLst>
          </p:cNvPr>
          <p:cNvSpPr>
            <a:spLocks noGrp="1"/>
          </p:cNvSpPr>
          <p:nvPr/>
        </p:nvSpPr>
        <p:spPr>
          <a:xfrm>
            <a:off x="0" y="0"/>
            <a:ext cx="133350" cy="6858000"/>
          </a:xfrm>
          <a:prstGeom prst="rect">
            <a:avLst/>
          </a:prstGeom>
          <a:solidFill>
            <a:srgbClr val="16B8A6"/>
          </a:solidFill>
          <a:ln w="0">
            <a:noFill/>
            <a:prstDash val="solid"/>
          </a:ln>
        </p:spPr>
      </p:sp>
      <p:sp>
        <p:nvSpPr>
          <p:cNvPr id="2" name="Rectangle 1">
            <a:extLst>
              <a:ext uri="{FF2B5EF4-FFF2-40B4-BE49-F238E27FC236}">
                <a16:creationId xmlns:a16="http://schemas.microsoft.com/office/drawing/2014/main" id="{0EEE7533-7C3D-4E3B-98CC-005DAF8BA028}"/>
              </a:ext>
            </a:extLst>
          </p:cNvPr>
          <p:cNvSpPr>
            <a:spLocks noGrp="1"/>
          </p:cNvSpPr>
          <p:nvPr/>
        </p:nvSpPr>
        <p:spPr>
          <a:xfrm>
            <a:off x="666750" y="304800"/>
            <a:ext cx="6667500" cy="247650"/>
          </a:xfrm>
          <a:prstGeom prst="rect">
            <a:avLst/>
          </a:prstGeom>
          <a:noFill/>
          <a:ln w="0">
            <a:noFill/>
            <a:prstDash val="solid"/>
          </a:ln>
        </p:spPr>
        <p:txBody>
          <a:bodyPr anchor="ctr">
            <a:normAutofit fontScale="97619"/>
          </a:bodyPr>
          <a:lstStyle/>
          <a:p>
            <a:pPr algn="l">
              <a:lnSpc>
                <a:spcPct val="100000"/>
              </a:lnSpc>
              <a:buNone/>
              <a:defRPr sz="1050" b="1">
                <a:solidFill>
                  <a:srgbClr val="087F78"/>
                </a:solidFill>
                <a:latin typeface="Arial"/>
                <a:ea typeface="Arial"/>
                <a:cs typeface="Arial"/>
              </a:defRPr>
            </a:pPr>
            <a:r>
              <a:rPr sz="1050" b="1">
                <a:solidFill>
                  <a:srgbClr val="087F78"/>
                </a:solidFill>
                <a:latin typeface="Arial"/>
                <a:ea typeface="Arial"/>
                <a:cs typeface="Arial"/>
              </a:rPr>
              <a:t>JUDGE WALKTHROUGH</a:t>
            </a:r>
          </a:p>
        </p:txBody>
      </p:sp>
      <p:sp>
        <p:nvSpPr>
          <p:cNvPr id="3" name="Rectangle 2">
            <a:extLst>
              <a:ext uri="{FF2B5EF4-FFF2-40B4-BE49-F238E27FC236}">
                <a16:creationId xmlns:a16="http://schemas.microsoft.com/office/drawing/2014/main" id="{3DEBE332-E3FE-4B6A-8971-1C3FB5D2F9DD}"/>
              </a:ext>
            </a:extLst>
          </p:cNvPr>
          <p:cNvSpPr>
            <a:spLocks noGrp="1"/>
          </p:cNvSpPr>
          <p:nvPr/>
        </p:nvSpPr>
        <p:spPr>
          <a:xfrm>
            <a:off x="666750" y="647700"/>
            <a:ext cx="10763250" cy="685800"/>
          </a:xfrm>
          <a:prstGeom prst="rect">
            <a:avLst/>
          </a:prstGeom>
          <a:noFill/>
          <a:ln w="0">
            <a:noFill/>
            <a:prstDash val="solid"/>
          </a:ln>
        </p:spPr>
        <p:txBody>
          <a:bodyPr anchor="ctr">
            <a:normAutofit/>
          </a:bodyPr>
          <a:lstStyle/>
          <a:p>
            <a:pPr algn="l">
              <a:lnSpc>
                <a:spcPct val="100000"/>
              </a:lnSpc>
              <a:buNone/>
              <a:defRPr sz="3600" b="1">
                <a:solidFill>
                  <a:srgbClr val="0B1F33"/>
                </a:solidFill>
                <a:latin typeface="Arial"/>
                <a:ea typeface="Arial"/>
                <a:cs typeface="Arial"/>
              </a:defRPr>
            </a:pPr>
            <a:r>
              <a:rPr sz="3600" b="1">
                <a:solidFill>
                  <a:srgbClr val="0B1F33"/>
                </a:solidFill>
                <a:latin typeface="Arial"/>
                <a:ea typeface="Arial"/>
                <a:cs typeface="Arial"/>
              </a:rPr>
              <a:t>Demo scenario: urgent machine breakdown</a:t>
            </a:r>
          </a:p>
        </p:txBody>
      </p:sp>
      <p:sp>
        <p:nvSpPr>
          <p:cNvPr id="4" name="Rectangle 3">
            <a:extLst>
              <a:ext uri="{FF2B5EF4-FFF2-40B4-BE49-F238E27FC236}">
                <a16:creationId xmlns:a16="http://schemas.microsoft.com/office/drawing/2014/main" id="{6793268E-BABB-4079-9C9B-48D3034C6D0A}"/>
              </a:ext>
            </a:extLst>
          </p:cNvPr>
          <p:cNvSpPr>
            <a:spLocks noGrp="1"/>
          </p:cNvSpPr>
          <p:nvPr/>
        </p:nvSpPr>
        <p:spPr>
          <a:xfrm>
            <a:off x="666750" y="6267450"/>
            <a:ext cx="10858500" cy="9525"/>
          </a:xfrm>
          <a:prstGeom prst="rect">
            <a:avLst/>
          </a:prstGeom>
          <a:solidFill>
            <a:srgbClr val="D8E2E8"/>
          </a:solidFill>
          <a:ln w="0">
            <a:noFill/>
            <a:prstDash val="solid"/>
          </a:ln>
        </p:spPr>
      </p:sp>
      <p:sp>
        <p:nvSpPr>
          <p:cNvPr id="5" name="Rectangle 4">
            <a:extLst>
              <a:ext uri="{FF2B5EF4-FFF2-40B4-BE49-F238E27FC236}">
                <a16:creationId xmlns:a16="http://schemas.microsoft.com/office/drawing/2014/main" id="{CEAFF10B-B815-44E6-8683-671B27796E09}"/>
              </a:ext>
            </a:extLst>
          </p:cNvPr>
          <p:cNvSpPr>
            <a:spLocks noGrp="1"/>
          </p:cNvSpPr>
          <p:nvPr/>
        </p:nvSpPr>
        <p:spPr>
          <a:xfrm>
            <a:off x="666750" y="6343650"/>
            <a:ext cx="8572500" cy="209550"/>
          </a:xfrm>
          <a:prstGeom prst="rect">
            <a:avLst/>
          </a:prstGeom>
          <a:noFill/>
          <a:ln w="0">
            <a:noFill/>
            <a:prstDash val="solid"/>
          </a:ln>
        </p:spPr>
        <p:txBody>
          <a:bodyPr anchor="ctr">
            <a:normAutofit fontScale="86111"/>
          </a:bodyPr>
          <a:lstStyle/>
          <a:p>
            <a:pPr algn="l">
              <a:lnSpc>
                <a:spcPct val="100000"/>
              </a:lnSpc>
              <a:buNone/>
              <a:defRPr sz="900" b="1">
                <a:solidFill>
                  <a:srgbClr val="597083"/>
                </a:solidFill>
                <a:latin typeface="Arial"/>
                <a:ea typeface="Arial"/>
                <a:cs typeface="Arial"/>
              </a:defRPr>
            </a:pPr>
            <a:r>
              <a:rPr sz="900" b="1">
                <a:solidFill>
                  <a:srgbClr val="597083"/>
                </a:solidFill>
                <a:latin typeface="Arial"/>
                <a:ea typeface="Arial"/>
                <a:cs typeface="Arial"/>
              </a:rPr>
              <a:t>DATAQUEST 3.0  /  DURANTHAM</a:t>
            </a:r>
          </a:p>
        </p:txBody>
      </p:sp>
      <p:sp>
        <p:nvSpPr>
          <p:cNvPr id="6" name="Rectangle 5">
            <a:extLst>
              <a:ext uri="{FF2B5EF4-FFF2-40B4-BE49-F238E27FC236}">
                <a16:creationId xmlns:a16="http://schemas.microsoft.com/office/drawing/2014/main" id="{B60185F0-3133-4F34-B648-0BC0C69A9E99}"/>
              </a:ext>
            </a:extLst>
          </p:cNvPr>
          <p:cNvSpPr>
            <a:spLocks noGrp="1"/>
          </p:cNvSpPr>
          <p:nvPr/>
        </p:nvSpPr>
        <p:spPr>
          <a:xfrm>
            <a:off x="742950" y="1504950"/>
            <a:ext cx="10287000" cy="428625"/>
          </a:xfrm>
          <a:prstGeom prst="rect">
            <a:avLst/>
          </a:prstGeom>
          <a:noFill/>
          <a:ln w="0">
            <a:noFill/>
            <a:prstDash val="solid"/>
          </a:ln>
        </p:spPr>
        <p:txBody>
          <a:bodyPr anchor="t">
            <a:normAutofit/>
          </a:bodyPr>
          <a:lstStyle/>
          <a:p>
            <a:pPr algn="l">
              <a:lnSpc>
                <a:spcPct val="100000"/>
              </a:lnSpc>
              <a:buNone/>
              <a:defRPr sz="1800" b="1">
                <a:solidFill>
                  <a:srgbClr val="183247"/>
                </a:solidFill>
                <a:latin typeface="Arial"/>
                <a:ea typeface="Arial"/>
                <a:cs typeface="Arial"/>
              </a:defRPr>
            </a:pPr>
            <a:r>
              <a:rPr sz="1800" b="1">
                <a:solidFill>
                  <a:srgbClr val="183247"/>
                </a:solidFill>
                <a:latin typeface="Arial"/>
                <a:ea typeface="Arial"/>
                <a:cs typeface="Arial"/>
              </a:rPr>
              <a:t>Use the brief’s M-104 scenario to show how an unscheduled job should flow.</a:t>
            </a:r>
          </a:p>
        </p:txBody>
      </p:sp>
      <p:sp>
        <p:nvSpPr>
          <p:cNvPr id="7" name="Rectangle 6">
            <a:extLst>
              <a:ext uri="{FF2B5EF4-FFF2-40B4-BE49-F238E27FC236}">
                <a16:creationId xmlns:a16="http://schemas.microsoft.com/office/drawing/2014/main" id="{85B12642-22FC-4A55-B71C-0203607DE46B}"/>
              </a:ext>
            </a:extLst>
          </p:cNvPr>
          <p:cNvSpPr>
            <a:spLocks noGrp="1"/>
          </p:cNvSpPr>
          <p:nvPr/>
        </p:nvSpPr>
        <p:spPr>
          <a:xfrm>
            <a:off x="762000" y="2209800"/>
            <a:ext cx="419100" cy="419100"/>
          </a:xfrm>
          <a:prstGeom prst="rect">
            <a:avLst/>
          </a:prstGeom>
          <a:solidFill>
            <a:srgbClr val="16B8A6"/>
          </a:solidFill>
          <a:ln w="0">
            <a:noFill/>
            <a:prstDash val="solid"/>
          </a:ln>
        </p:spPr>
      </p:sp>
      <p:sp>
        <p:nvSpPr>
          <p:cNvPr id="8" name="Rectangle 7">
            <a:extLst>
              <a:ext uri="{FF2B5EF4-FFF2-40B4-BE49-F238E27FC236}">
                <a16:creationId xmlns:a16="http://schemas.microsoft.com/office/drawing/2014/main" id="{7FE1FDC4-E3E7-4A62-A50E-A0B494605BCF}"/>
              </a:ext>
            </a:extLst>
          </p:cNvPr>
          <p:cNvSpPr>
            <a:spLocks noGrp="1"/>
          </p:cNvSpPr>
          <p:nvPr/>
        </p:nvSpPr>
        <p:spPr>
          <a:xfrm>
            <a:off x="762000" y="2200275"/>
            <a:ext cx="419100" cy="400050"/>
          </a:xfrm>
          <a:prstGeom prst="rect">
            <a:avLst/>
          </a:prstGeom>
          <a:noFill/>
          <a:ln w="0">
            <a:noFill/>
            <a:prstDash val="solid"/>
          </a:ln>
        </p:spPr>
        <p:txBody>
          <a:bodyPr anchor="ctr">
            <a:normAutofit/>
          </a:bodyPr>
          <a:lstStyle/>
          <a:p>
            <a:pPr algn="ctr">
              <a:lnSpc>
                <a:spcPct val="100000"/>
              </a:lnSpc>
              <a:buNone/>
              <a:defRPr sz="1425" b="1">
                <a:solidFill>
                  <a:srgbClr val="FFFFFF"/>
                </a:solidFill>
                <a:latin typeface="Arial"/>
                <a:ea typeface="Arial"/>
                <a:cs typeface="Arial"/>
              </a:defRPr>
            </a:pPr>
            <a:r>
              <a:rPr sz="1425" b="1">
                <a:solidFill>
                  <a:srgbClr val="FFFFFF"/>
                </a:solidFill>
                <a:latin typeface="Arial"/>
                <a:ea typeface="Arial"/>
                <a:cs typeface="Arial"/>
              </a:rPr>
              <a:t>1</a:t>
            </a:r>
          </a:p>
        </p:txBody>
      </p:sp>
      <p:sp>
        <p:nvSpPr>
          <p:cNvPr id="9" name="Rectangle 8">
            <a:extLst>
              <a:ext uri="{FF2B5EF4-FFF2-40B4-BE49-F238E27FC236}">
                <a16:creationId xmlns:a16="http://schemas.microsoft.com/office/drawing/2014/main" id="{1102731E-8D68-470A-A05C-3F43FD9D906E}"/>
              </a:ext>
            </a:extLst>
          </p:cNvPr>
          <p:cNvSpPr>
            <a:spLocks noGrp="1"/>
          </p:cNvSpPr>
          <p:nvPr/>
        </p:nvSpPr>
        <p:spPr>
          <a:xfrm>
            <a:off x="1447800" y="2190750"/>
            <a:ext cx="9572625" cy="552450"/>
          </a:xfrm>
          <a:prstGeom prst="rect">
            <a:avLst/>
          </a:prstGeom>
          <a:noFill/>
          <a:ln w="0">
            <a:noFill/>
            <a:prstDash val="solid"/>
          </a:ln>
        </p:spPr>
        <p:txBody>
          <a:bodyPr anchor="t">
            <a:normAutofit/>
          </a:bodyPr>
          <a:lstStyle/>
          <a:p>
            <a:pPr algn="l">
              <a:lnSpc>
                <a:spcPct val="100000"/>
              </a:lnSpc>
              <a:buNone/>
              <a:defRPr sz="1500" b="0">
                <a:solidFill>
                  <a:srgbClr val="183247"/>
                </a:solidFill>
                <a:latin typeface="Arial"/>
                <a:ea typeface="Arial"/>
                <a:cs typeface="Arial"/>
              </a:defRPr>
            </a:pPr>
            <a:r>
              <a:rPr sz="1500" b="0">
                <a:solidFill>
                  <a:srgbClr val="183247"/>
                </a:solidFill>
                <a:latin typeface="Arial"/>
                <a:ea typeface="Arial"/>
                <a:cs typeface="Arial"/>
              </a:rPr>
              <a:t>Requester submits M-104 breakdown with site, priority and resource needs.</a:t>
            </a:r>
          </a:p>
        </p:txBody>
      </p:sp>
      <p:sp>
        <p:nvSpPr>
          <p:cNvPr id="10" name="Rectangle 9">
            <a:extLst>
              <a:ext uri="{FF2B5EF4-FFF2-40B4-BE49-F238E27FC236}">
                <a16:creationId xmlns:a16="http://schemas.microsoft.com/office/drawing/2014/main" id="{F9DBD833-2E67-4695-A7BD-15504DD9BDA5}"/>
              </a:ext>
            </a:extLst>
          </p:cNvPr>
          <p:cNvSpPr>
            <a:spLocks noGrp="1"/>
          </p:cNvSpPr>
          <p:nvPr/>
        </p:nvSpPr>
        <p:spPr>
          <a:xfrm>
            <a:off x="762000" y="3048000"/>
            <a:ext cx="419100" cy="419100"/>
          </a:xfrm>
          <a:prstGeom prst="rect">
            <a:avLst/>
          </a:prstGeom>
          <a:solidFill>
            <a:srgbClr val="16B8A6"/>
          </a:solidFill>
          <a:ln w="0">
            <a:noFill/>
            <a:prstDash val="solid"/>
          </a:ln>
        </p:spPr>
      </p:sp>
      <p:sp>
        <p:nvSpPr>
          <p:cNvPr id="11" name="Rectangle 10">
            <a:extLst>
              <a:ext uri="{FF2B5EF4-FFF2-40B4-BE49-F238E27FC236}">
                <a16:creationId xmlns:a16="http://schemas.microsoft.com/office/drawing/2014/main" id="{4CBCC648-97B1-4E13-B666-E00DDDB29B03}"/>
              </a:ext>
            </a:extLst>
          </p:cNvPr>
          <p:cNvSpPr>
            <a:spLocks noGrp="1"/>
          </p:cNvSpPr>
          <p:nvPr/>
        </p:nvSpPr>
        <p:spPr>
          <a:xfrm>
            <a:off x="762000" y="3038475"/>
            <a:ext cx="419100" cy="400050"/>
          </a:xfrm>
          <a:prstGeom prst="rect">
            <a:avLst/>
          </a:prstGeom>
          <a:noFill/>
          <a:ln w="0">
            <a:noFill/>
            <a:prstDash val="solid"/>
          </a:ln>
        </p:spPr>
        <p:txBody>
          <a:bodyPr anchor="ctr">
            <a:normAutofit/>
          </a:bodyPr>
          <a:lstStyle/>
          <a:p>
            <a:pPr algn="ctr">
              <a:lnSpc>
                <a:spcPct val="100000"/>
              </a:lnSpc>
              <a:buNone/>
              <a:defRPr sz="1425" b="1">
                <a:solidFill>
                  <a:srgbClr val="FFFFFF"/>
                </a:solidFill>
                <a:latin typeface="Arial"/>
                <a:ea typeface="Arial"/>
                <a:cs typeface="Arial"/>
              </a:defRPr>
            </a:pPr>
            <a:r>
              <a:rPr sz="1425" b="1">
                <a:solidFill>
                  <a:srgbClr val="FFFFFF"/>
                </a:solidFill>
                <a:latin typeface="Arial"/>
                <a:ea typeface="Arial"/>
                <a:cs typeface="Arial"/>
              </a:rPr>
              <a:t>2</a:t>
            </a:r>
          </a:p>
        </p:txBody>
      </p:sp>
      <p:sp>
        <p:nvSpPr>
          <p:cNvPr id="12" name="Rectangle 11">
            <a:extLst>
              <a:ext uri="{FF2B5EF4-FFF2-40B4-BE49-F238E27FC236}">
                <a16:creationId xmlns:a16="http://schemas.microsoft.com/office/drawing/2014/main" id="{0A2FD2E9-FF08-48DF-AF1D-F13EA6EF28AC}"/>
              </a:ext>
            </a:extLst>
          </p:cNvPr>
          <p:cNvSpPr>
            <a:spLocks noGrp="1"/>
          </p:cNvSpPr>
          <p:nvPr/>
        </p:nvSpPr>
        <p:spPr>
          <a:xfrm>
            <a:off x="1447800" y="3028950"/>
            <a:ext cx="9572625" cy="552450"/>
          </a:xfrm>
          <a:prstGeom prst="rect">
            <a:avLst/>
          </a:prstGeom>
          <a:noFill/>
          <a:ln w="0">
            <a:noFill/>
            <a:prstDash val="solid"/>
          </a:ln>
        </p:spPr>
        <p:txBody>
          <a:bodyPr anchor="t">
            <a:normAutofit/>
          </a:bodyPr>
          <a:lstStyle/>
          <a:p>
            <a:pPr algn="l">
              <a:lnSpc>
                <a:spcPct val="100000"/>
              </a:lnSpc>
              <a:buNone/>
              <a:defRPr sz="1500" b="0">
                <a:solidFill>
                  <a:srgbClr val="183247"/>
                </a:solidFill>
                <a:latin typeface="Arial"/>
                <a:ea typeface="Arial"/>
                <a:cs typeface="Arial"/>
              </a:defRPr>
            </a:pPr>
            <a:r>
              <a:rPr sz="1500" b="0">
                <a:solidFill>
                  <a:srgbClr val="183247"/>
                </a:solidFill>
                <a:latin typeface="Arial"/>
                <a:ea typeface="Arial"/>
                <a:cs typeface="Arial"/>
              </a:rPr>
              <a:t>Dispatcher approves; API validates inventory and finds a qualified local technician.</a:t>
            </a:r>
          </a:p>
        </p:txBody>
      </p:sp>
      <p:sp>
        <p:nvSpPr>
          <p:cNvPr id="13" name="Rectangle 12">
            <a:extLst>
              <a:ext uri="{FF2B5EF4-FFF2-40B4-BE49-F238E27FC236}">
                <a16:creationId xmlns:a16="http://schemas.microsoft.com/office/drawing/2014/main" id="{B29E4E16-DF98-43B6-8487-199627D503A1}"/>
              </a:ext>
            </a:extLst>
          </p:cNvPr>
          <p:cNvSpPr>
            <a:spLocks noGrp="1"/>
          </p:cNvSpPr>
          <p:nvPr/>
        </p:nvSpPr>
        <p:spPr>
          <a:xfrm>
            <a:off x="762000" y="3886200"/>
            <a:ext cx="419100" cy="419100"/>
          </a:xfrm>
          <a:prstGeom prst="rect">
            <a:avLst/>
          </a:prstGeom>
          <a:solidFill>
            <a:srgbClr val="16B8A6"/>
          </a:solidFill>
          <a:ln w="0">
            <a:noFill/>
            <a:prstDash val="solid"/>
          </a:ln>
        </p:spPr>
      </p:sp>
      <p:sp>
        <p:nvSpPr>
          <p:cNvPr id="14" name="Rectangle 13">
            <a:extLst>
              <a:ext uri="{FF2B5EF4-FFF2-40B4-BE49-F238E27FC236}">
                <a16:creationId xmlns:a16="http://schemas.microsoft.com/office/drawing/2014/main" id="{06369CB7-0CBD-4CF8-8F09-0CA030FED315}"/>
              </a:ext>
            </a:extLst>
          </p:cNvPr>
          <p:cNvSpPr>
            <a:spLocks noGrp="1"/>
          </p:cNvSpPr>
          <p:nvPr/>
        </p:nvSpPr>
        <p:spPr>
          <a:xfrm>
            <a:off x="762000" y="3876675"/>
            <a:ext cx="419100" cy="400050"/>
          </a:xfrm>
          <a:prstGeom prst="rect">
            <a:avLst/>
          </a:prstGeom>
          <a:noFill/>
          <a:ln w="0">
            <a:noFill/>
            <a:prstDash val="solid"/>
          </a:ln>
        </p:spPr>
        <p:txBody>
          <a:bodyPr anchor="ctr">
            <a:normAutofit/>
          </a:bodyPr>
          <a:lstStyle/>
          <a:p>
            <a:pPr algn="ctr">
              <a:lnSpc>
                <a:spcPct val="100000"/>
              </a:lnSpc>
              <a:buNone/>
              <a:defRPr sz="1425" b="1">
                <a:solidFill>
                  <a:srgbClr val="FFFFFF"/>
                </a:solidFill>
                <a:latin typeface="Arial"/>
                <a:ea typeface="Arial"/>
                <a:cs typeface="Arial"/>
              </a:defRPr>
            </a:pPr>
            <a:r>
              <a:rPr sz="1425" b="1">
                <a:solidFill>
                  <a:srgbClr val="FFFFFF"/>
                </a:solidFill>
                <a:latin typeface="Arial"/>
                <a:ea typeface="Arial"/>
                <a:cs typeface="Arial"/>
              </a:rPr>
              <a:t>3</a:t>
            </a:r>
          </a:p>
        </p:txBody>
      </p:sp>
      <p:sp>
        <p:nvSpPr>
          <p:cNvPr id="15" name="Rectangle 14">
            <a:extLst>
              <a:ext uri="{FF2B5EF4-FFF2-40B4-BE49-F238E27FC236}">
                <a16:creationId xmlns:a16="http://schemas.microsoft.com/office/drawing/2014/main" id="{EE7AE05D-E200-4944-B93A-CC548AE43FE2}"/>
              </a:ext>
            </a:extLst>
          </p:cNvPr>
          <p:cNvSpPr>
            <a:spLocks noGrp="1"/>
          </p:cNvSpPr>
          <p:nvPr/>
        </p:nvSpPr>
        <p:spPr>
          <a:xfrm>
            <a:off x="1447800" y="3867150"/>
            <a:ext cx="9572625" cy="552450"/>
          </a:xfrm>
          <a:prstGeom prst="rect">
            <a:avLst/>
          </a:prstGeom>
          <a:noFill/>
          <a:ln w="0">
            <a:noFill/>
            <a:prstDash val="solid"/>
          </a:ln>
        </p:spPr>
        <p:txBody>
          <a:bodyPr anchor="t">
            <a:normAutofit/>
          </a:bodyPr>
          <a:lstStyle/>
          <a:p>
            <a:pPr algn="l">
              <a:lnSpc>
                <a:spcPct val="100000"/>
              </a:lnSpc>
              <a:buNone/>
              <a:defRPr sz="1500" b="0">
                <a:solidFill>
                  <a:srgbClr val="183247"/>
                </a:solidFill>
                <a:latin typeface="Arial"/>
                <a:ea typeface="Arial"/>
                <a:cs typeface="Arial"/>
              </a:defRPr>
            </a:pPr>
            <a:r>
              <a:rPr sz="1500" b="0">
                <a:solidFill>
                  <a:srgbClr val="183247"/>
                </a:solidFill>
                <a:latin typeface="Arial"/>
                <a:ea typeface="Arial"/>
                <a:cs typeface="Arial"/>
              </a:rPr>
              <a:t>Technician starts work, records notes or evidence, then enters a verification note.</a:t>
            </a:r>
          </a:p>
        </p:txBody>
      </p:sp>
      <p:sp>
        <p:nvSpPr>
          <p:cNvPr id="16" name="Rectangle 15">
            <a:extLst>
              <a:ext uri="{FF2B5EF4-FFF2-40B4-BE49-F238E27FC236}">
                <a16:creationId xmlns:a16="http://schemas.microsoft.com/office/drawing/2014/main" id="{7A886AF0-B933-4F4A-98D4-A661F2DB5A1B}"/>
              </a:ext>
            </a:extLst>
          </p:cNvPr>
          <p:cNvSpPr>
            <a:spLocks noGrp="1"/>
          </p:cNvSpPr>
          <p:nvPr/>
        </p:nvSpPr>
        <p:spPr>
          <a:xfrm>
            <a:off x="762000" y="4724400"/>
            <a:ext cx="419100" cy="419100"/>
          </a:xfrm>
          <a:prstGeom prst="rect">
            <a:avLst/>
          </a:prstGeom>
          <a:solidFill>
            <a:srgbClr val="12324B"/>
          </a:solidFill>
          <a:ln w="0">
            <a:noFill/>
            <a:prstDash val="solid"/>
          </a:ln>
        </p:spPr>
      </p:sp>
      <p:sp>
        <p:nvSpPr>
          <p:cNvPr id="17" name="Rectangle 16">
            <a:extLst>
              <a:ext uri="{FF2B5EF4-FFF2-40B4-BE49-F238E27FC236}">
                <a16:creationId xmlns:a16="http://schemas.microsoft.com/office/drawing/2014/main" id="{413D1CC6-68FF-4609-BE38-4596BE6B6C2E}"/>
              </a:ext>
            </a:extLst>
          </p:cNvPr>
          <p:cNvSpPr>
            <a:spLocks noGrp="1"/>
          </p:cNvSpPr>
          <p:nvPr/>
        </p:nvSpPr>
        <p:spPr>
          <a:xfrm>
            <a:off x="762000" y="4714875"/>
            <a:ext cx="419100" cy="400050"/>
          </a:xfrm>
          <a:prstGeom prst="rect">
            <a:avLst/>
          </a:prstGeom>
          <a:noFill/>
          <a:ln w="0">
            <a:noFill/>
            <a:prstDash val="solid"/>
          </a:ln>
        </p:spPr>
        <p:txBody>
          <a:bodyPr anchor="ctr">
            <a:normAutofit/>
          </a:bodyPr>
          <a:lstStyle/>
          <a:p>
            <a:pPr algn="ctr">
              <a:lnSpc>
                <a:spcPct val="100000"/>
              </a:lnSpc>
              <a:buNone/>
              <a:defRPr sz="1425" b="1">
                <a:solidFill>
                  <a:srgbClr val="FFFFFF"/>
                </a:solidFill>
                <a:latin typeface="Arial"/>
                <a:ea typeface="Arial"/>
                <a:cs typeface="Arial"/>
              </a:defRPr>
            </a:pPr>
            <a:r>
              <a:rPr sz="1425" b="1">
                <a:solidFill>
                  <a:srgbClr val="FFFFFF"/>
                </a:solidFill>
                <a:latin typeface="Arial"/>
                <a:ea typeface="Arial"/>
                <a:cs typeface="Arial"/>
              </a:rPr>
              <a:t>4</a:t>
            </a:r>
          </a:p>
        </p:txBody>
      </p:sp>
      <p:sp>
        <p:nvSpPr>
          <p:cNvPr id="18" name="Rectangle 17">
            <a:extLst>
              <a:ext uri="{FF2B5EF4-FFF2-40B4-BE49-F238E27FC236}">
                <a16:creationId xmlns:a16="http://schemas.microsoft.com/office/drawing/2014/main" id="{6FE91041-5F0C-49BF-8D20-13CB3C28FCD7}"/>
              </a:ext>
            </a:extLst>
          </p:cNvPr>
          <p:cNvSpPr>
            <a:spLocks noGrp="1"/>
          </p:cNvSpPr>
          <p:nvPr/>
        </p:nvSpPr>
        <p:spPr>
          <a:xfrm>
            <a:off x="1447800" y="4705350"/>
            <a:ext cx="9572625" cy="552450"/>
          </a:xfrm>
          <a:prstGeom prst="rect">
            <a:avLst/>
          </a:prstGeom>
          <a:noFill/>
          <a:ln w="0">
            <a:noFill/>
            <a:prstDash val="solid"/>
          </a:ln>
        </p:spPr>
        <p:txBody>
          <a:bodyPr anchor="t">
            <a:normAutofit/>
          </a:bodyPr>
          <a:lstStyle/>
          <a:p>
            <a:pPr algn="l">
              <a:lnSpc>
                <a:spcPct val="100000"/>
              </a:lnSpc>
              <a:buNone/>
              <a:defRPr sz="1500" b="0">
                <a:solidFill>
                  <a:srgbClr val="183247"/>
                </a:solidFill>
                <a:latin typeface="Arial"/>
                <a:ea typeface="Arial"/>
                <a:cs typeface="Arial"/>
              </a:defRPr>
            </a:pPr>
            <a:r>
              <a:rPr sz="1500" b="0">
                <a:solidFill>
                  <a:srgbClr val="183247"/>
                </a:solidFill>
                <a:latin typeface="Arial"/>
                <a:ea typeface="Arial"/>
                <a:cs typeface="Arial"/>
              </a:rPr>
              <a:t>Requester receives an update; operations can inspect request history and audit events.</a:t>
            </a:r>
          </a:p>
        </p:txBody>
      </p:sp>
      <p:sp>
        <p:nvSpPr>
          <p:cNvPr id="19" name="Rectangle 18">
            <a:extLst>
              <a:ext uri="{FF2B5EF4-FFF2-40B4-BE49-F238E27FC236}">
                <a16:creationId xmlns:a16="http://schemas.microsoft.com/office/drawing/2014/main" id="{F00EB2AB-2089-4629-ADAF-B9E8B44F6326}"/>
              </a:ext>
            </a:extLst>
          </p:cNvPr>
          <p:cNvSpPr>
            <a:spLocks noGrp="1"/>
          </p:cNvSpPr>
          <p:nvPr/>
        </p:nvSpPr>
        <p:spPr>
          <a:xfrm>
            <a:off x="762000" y="5657850"/>
            <a:ext cx="10191750" cy="304800"/>
          </a:xfrm>
          <a:prstGeom prst="rect">
            <a:avLst/>
          </a:prstGeom>
          <a:noFill/>
          <a:ln w="0">
            <a:noFill/>
            <a:prstDash val="solid"/>
          </a:ln>
        </p:spPr>
        <p:txBody>
          <a:bodyPr anchor="ctr">
            <a:normAutofit fontScale="98246"/>
          </a:bodyPr>
          <a:lstStyle/>
          <a:p>
            <a:pPr algn="l">
              <a:lnSpc>
                <a:spcPct val="100000"/>
              </a:lnSpc>
              <a:buNone/>
              <a:defRPr sz="1425" b="1">
                <a:solidFill>
                  <a:srgbClr val="C95058"/>
                </a:solidFill>
                <a:latin typeface="Arial"/>
                <a:ea typeface="Arial"/>
                <a:cs typeface="Arial"/>
              </a:defRPr>
            </a:pPr>
            <a:r>
              <a:rPr sz="1425" b="1">
                <a:solidFill>
                  <a:srgbClr val="C95058"/>
                </a:solidFill>
                <a:latin typeface="Arial"/>
                <a:ea typeface="Arial"/>
                <a:cs typeface="Arial"/>
              </a:rPr>
              <a:t>If stock or matching personnel are unavailable, show the exception and reassignment path.</a:t>
            </a:r>
          </a:p>
        </p:txBody>
      </p:sp>
    </p:spTree>
    <p:extLst>
      <p:ext uri="{BB962C8B-B14F-4D97-AF65-F5344CB8AC3E}">
        <p14:creationId xmlns:p14="http://schemas.microsoft.com/office/powerpoint/2010/main" val="1177362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873826F-5989-468A-B8E3-A76242E206F9}"/>
              </a:ext>
            </a:extLst>
          </p:cNvPr>
          <p:cNvSpPr>
            <a:spLocks noGrp="1"/>
          </p:cNvSpPr>
          <p:nvPr/>
        </p:nvSpPr>
        <p:spPr>
          <a:xfrm>
            <a:off x="0" y="0"/>
            <a:ext cx="133350" cy="6858000"/>
          </a:xfrm>
          <a:prstGeom prst="rect">
            <a:avLst/>
          </a:prstGeom>
          <a:solidFill>
            <a:srgbClr val="16B8A6"/>
          </a:solidFill>
          <a:ln w="0">
            <a:noFill/>
            <a:prstDash val="solid"/>
          </a:ln>
        </p:spPr>
      </p:sp>
      <p:sp>
        <p:nvSpPr>
          <p:cNvPr id="2" name="Rectangle 1">
            <a:extLst>
              <a:ext uri="{FF2B5EF4-FFF2-40B4-BE49-F238E27FC236}">
                <a16:creationId xmlns:a16="http://schemas.microsoft.com/office/drawing/2014/main" id="{64590DBD-9486-4F2B-AE41-65D3CC414F79}"/>
              </a:ext>
            </a:extLst>
          </p:cNvPr>
          <p:cNvSpPr>
            <a:spLocks noGrp="1"/>
          </p:cNvSpPr>
          <p:nvPr/>
        </p:nvSpPr>
        <p:spPr>
          <a:xfrm>
            <a:off x="666750" y="304800"/>
            <a:ext cx="6667500" cy="247650"/>
          </a:xfrm>
          <a:prstGeom prst="rect">
            <a:avLst/>
          </a:prstGeom>
          <a:noFill/>
          <a:ln w="0">
            <a:noFill/>
            <a:prstDash val="solid"/>
          </a:ln>
        </p:spPr>
        <p:txBody>
          <a:bodyPr anchor="ctr">
            <a:normAutofit fontScale="97619"/>
          </a:bodyPr>
          <a:lstStyle/>
          <a:p>
            <a:pPr algn="l">
              <a:lnSpc>
                <a:spcPct val="100000"/>
              </a:lnSpc>
              <a:buNone/>
              <a:defRPr sz="1050" b="1">
                <a:solidFill>
                  <a:srgbClr val="087F78"/>
                </a:solidFill>
                <a:latin typeface="Arial"/>
                <a:ea typeface="Arial"/>
                <a:cs typeface="Arial"/>
              </a:defRPr>
            </a:pPr>
            <a:r>
              <a:rPr sz="1050" b="1">
                <a:solidFill>
                  <a:srgbClr val="087F78"/>
                </a:solidFill>
                <a:latin typeface="Arial"/>
                <a:ea typeface="Arial"/>
                <a:cs typeface="Arial"/>
              </a:rPr>
              <a:t>CURRENT BUILD AND NEXT STEPS</a:t>
            </a:r>
          </a:p>
        </p:txBody>
      </p:sp>
      <p:sp>
        <p:nvSpPr>
          <p:cNvPr id="3" name="Rectangle 2">
            <a:extLst>
              <a:ext uri="{FF2B5EF4-FFF2-40B4-BE49-F238E27FC236}">
                <a16:creationId xmlns:a16="http://schemas.microsoft.com/office/drawing/2014/main" id="{20888F7F-06DC-4524-BA52-58CD90368CBA}"/>
              </a:ext>
            </a:extLst>
          </p:cNvPr>
          <p:cNvSpPr>
            <a:spLocks noGrp="1"/>
          </p:cNvSpPr>
          <p:nvPr/>
        </p:nvSpPr>
        <p:spPr>
          <a:xfrm>
            <a:off x="666750" y="647700"/>
            <a:ext cx="10763250" cy="685800"/>
          </a:xfrm>
          <a:prstGeom prst="rect">
            <a:avLst/>
          </a:prstGeom>
          <a:noFill/>
          <a:ln w="0">
            <a:noFill/>
            <a:prstDash val="solid"/>
          </a:ln>
        </p:spPr>
        <p:txBody>
          <a:bodyPr anchor="ctr">
            <a:normAutofit fontScale="92930"/>
          </a:bodyPr>
          <a:lstStyle/>
          <a:p>
            <a:pPr algn="l">
              <a:lnSpc>
                <a:spcPct val="100000"/>
              </a:lnSpc>
              <a:buNone/>
              <a:defRPr sz="3600" b="1">
                <a:solidFill>
                  <a:srgbClr val="0B1F33"/>
                </a:solidFill>
                <a:latin typeface="Arial"/>
                <a:ea typeface="Arial"/>
                <a:cs typeface="Arial"/>
              </a:defRPr>
            </a:pPr>
            <a:r>
              <a:rPr sz="3600" b="1">
                <a:solidFill>
                  <a:srgbClr val="0B1F33"/>
                </a:solidFill>
                <a:latin typeface="Arial"/>
                <a:ea typeface="Arial"/>
                <a:cs typeface="Arial"/>
              </a:rPr>
              <a:t>The service engine is ahead of the dashboard wiring</a:t>
            </a:r>
          </a:p>
        </p:txBody>
      </p:sp>
      <p:sp>
        <p:nvSpPr>
          <p:cNvPr id="4" name="Rectangle 3">
            <a:extLst>
              <a:ext uri="{FF2B5EF4-FFF2-40B4-BE49-F238E27FC236}">
                <a16:creationId xmlns:a16="http://schemas.microsoft.com/office/drawing/2014/main" id="{38481012-FA19-47A3-8E0B-AA21A0A20315}"/>
              </a:ext>
            </a:extLst>
          </p:cNvPr>
          <p:cNvSpPr>
            <a:spLocks noGrp="1"/>
          </p:cNvSpPr>
          <p:nvPr/>
        </p:nvSpPr>
        <p:spPr>
          <a:xfrm>
            <a:off x="666750" y="6267450"/>
            <a:ext cx="10858500" cy="9525"/>
          </a:xfrm>
          <a:prstGeom prst="rect">
            <a:avLst/>
          </a:prstGeom>
          <a:solidFill>
            <a:srgbClr val="D8E2E8"/>
          </a:solidFill>
          <a:ln w="0">
            <a:noFill/>
            <a:prstDash val="solid"/>
          </a:ln>
        </p:spPr>
      </p:sp>
      <p:sp>
        <p:nvSpPr>
          <p:cNvPr id="5" name="Rectangle 4">
            <a:extLst>
              <a:ext uri="{FF2B5EF4-FFF2-40B4-BE49-F238E27FC236}">
                <a16:creationId xmlns:a16="http://schemas.microsoft.com/office/drawing/2014/main" id="{33C026BD-B5EB-4D1B-A5B8-F28B042DE8F3}"/>
              </a:ext>
            </a:extLst>
          </p:cNvPr>
          <p:cNvSpPr>
            <a:spLocks noGrp="1"/>
          </p:cNvSpPr>
          <p:nvPr/>
        </p:nvSpPr>
        <p:spPr>
          <a:xfrm>
            <a:off x="666750" y="6343650"/>
            <a:ext cx="8572500" cy="209550"/>
          </a:xfrm>
          <a:prstGeom prst="rect">
            <a:avLst/>
          </a:prstGeom>
          <a:noFill/>
          <a:ln w="0">
            <a:noFill/>
            <a:prstDash val="solid"/>
          </a:ln>
        </p:spPr>
        <p:txBody>
          <a:bodyPr anchor="ctr">
            <a:normAutofit fontScale="86111"/>
          </a:bodyPr>
          <a:lstStyle/>
          <a:p>
            <a:pPr algn="l">
              <a:lnSpc>
                <a:spcPct val="100000"/>
              </a:lnSpc>
              <a:buNone/>
              <a:defRPr sz="900" b="1">
                <a:solidFill>
                  <a:srgbClr val="597083"/>
                </a:solidFill>
                <a:latin typeface="Arial"/>
                <a:ea typeface="Arial"/>
                <a:cs typeface="Arial"/>
              </a:defRPr>
            </a:pPr>
            <a:r>
              <a:rPr sz="900" b="1">
                <a:solidFill>
                  <a:srgbClr val="597083"/>
                </a:solidFill>
                <a:latin typeface="Arial"/>
                <a:ea typeface="Arial"/>
                <a:cs typeface="Arial"/>
              </a:rPr>
              <a:t>DATAQUEST 3.0  /  DURANTHAM</a:t>
            </a:r>
          </a:p>
        </p:txBody>
      </p:sp>
      <p:sp>
        <p:nvSpPr>
          <p:cNvPr id="6" name="Rectangle 5">
            <a:extLst>
              <a:ext uri="{FF2B5EF4-FFF2-40B4-BE49-F238E27FC236}">
                <a16:creationId xmlns:a16="http://schemas.microsoft.com/office/drawing/2014/main" id="{E8C6876B-6311-42D1-B800-6EBA0D4DC9D9}"/>
              </a:ext>
            </a:extLst>
          </p:cNvPr>
          <p:cNvSpPr>
            <a:spLocks noGrp="1"/>
          </p:cNvSpPr>
          <p:nvPr/>
        </p:nvSpPr>
        <p:spPr>
          <a:xfrm>
            <a:off x="742950" y="1619250"/>
            <a:ext cx="4286250" cy="209550"/>
          </a:xfrm>
          <a:prstGeom prst="rect">
            <a:avLst/>
          </a:prstGeom>
          <a:noFill/>
          <a:ln w="0">
            <a:noFill/>
            <a:prstDash val="solid"/>
          </a:ln>
        </p:spPr>
        <p:txBody>
          <a:bodyPr anchor="ctr">
            <a:normAutofit fontScale="79487"/>
          </a:bodyPr>
          <a:lstStyle/>
          <a:p>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IMPLEMENTED IN THE BACKEND</a:t>
            </a:r>
          </a:p>
        </p:txBody>
      </p:sp>
      <p:sp>
        <p:nvSpPr>
          <p:cNvPr id="7" name="Rectangle 6">
            <a:extLst>
              <a:ext uri="{FF2B5EF4-FFF2-40B4-BE49-F238E27FC236}">
                <a16:creationId xmlns:a16="http://schemas.microsoft.com/office/drawing/2014/main" id="{0C93279E-CD7E-4F63-977D-35DA67EA8DCA}"/>
              </a:ext>
            </a:extLst>
          </p:cNvPr>
          <p:cNvSpPr>
            <a:spLocks noGrp="1"/>
          </p:cNvSpPr>
          <p:nvPr/>
        </p:nvSpPr>
        <p:spPr>
          <a:xfrm>
            <a:off x="742950" y="1952625"/>
            <a:ext cx="4762500" cy="1476375"/>
          </a:xfrm>
          <a:prstGeom prst="rect">
            <a:avLst/>
          </a:prstGeom>
          <a:noFill/>
          <a:ln w="0">
            <a:noFill/>
            <a:prstDash val="solid"/>
          </a:ln>
        </p:spPr>
        <p:txBody>
          <a:bodyPr anchor="t">
            <a:normAutofit/>
          </a:bodyPr>
          <a:lstStyle/>
          <a:p>
            <a:pPr algn="l">
              <a:lnSpc>
                <a:spcPct val="100000"/>
              </a:lnSpc>
              <a:buNone/>
              <a:defRPr sz="1500" b="0">
                <a:solidFill>
                  <a:srgbClr val="183247"/>
                </a:solidFill>
                <a:latin typeface="Arial"/>
                <a:ea typeface="Arial"/>
                <a:cs typeface="Arial"/>
              </a:defRPr>
            </a:pPr>
            <a:r>
              <a:rPr sz="1500" b="0">
                <a:solidFill>
                  <a:srgbClr val="183247"/>
                </a:solidFill>
                <a:latin typeface="Arial"/>
                <a:ea typeface="Arial"/>
                <a:cs typeface="Arial"/>
              </a:rPr>
              <a:t>Accounts and roles</a:t>
            </a:r>
          </a:p>
          <a:p>
            <a:pPr algn="l">
              <a:lnSpc>
                <a:spcPct val="100000"/>
              </a:lnSpc>
              <a:buNone/>
              <a:defRPr sz="1500" b="0">
                <a:solidFill>
                  <a:srgbClr val="183247"/>
                </a:solidFill>
                <a:latin typeface="Arial"/>
                <a:ea typeface="Arial"/>
                <a:cs typeface="Arial"/>
              </a:defRPr>
            </a:pPr>
            <a:r>
              <a:rPr sz="1500" b="0">
                <a:solidFill>
                  <a:srgbClr val="183247"/>
                </a:solidFill>
                <a:latin typeface="Arial"/>
                <a:ea typeface="Arial"/>
                <a:cs typeface="Arial"/>
              </a:rPr>
              <a:t>Request lifecycle and validation</a:t>
            </a:r>
          </a:p>
          <a:p>
            <a:pPr algn="l">
              <a:lnSpc>
                <a:spcPct val="100000"/>
              </a:lnSpc>
              <a:buNone/>
              <a:defRPr sz="1500" b="0">
                <a:solidFill>
                  <a:srgbClr val="183247"/>
                </a:solidFill>
                <a:latin typeface="Arial"/>
                <a:ea typeface="Arial"/>
                <a:cs typeface="Arial"/>
              </a:defRPr>
            </a:pPr>
            <a:r>
              <a:rPr sz="1500" b="0">
                <a:solidFill>
                  <a:srgbClr val="183247"/>
                </a:solidFill>
                <a:latin typeface="Arial"/>
                <a:ea typeface="Arial"/>
                <a:cs typeface="Arial"/>
              </a:rPr>
              <a:t>Technician matching</a:t>
            </a:r>
          </a:p>
          <a:p>
            <a:pPr algn="l">
              <a:lnSpc>
                <a:spcPct val="100000"/>
              </a:lnSpc>
              <a:buNone/>
              <a:defRPr sz="1500" b="0">
                <a:solidFill>
                  <a:srgbClr val="183247"/>
                </a:solidFill>
                <a:latin typeface="Arial"/>
                <a:ea typeface="Arial"/>
                <a:cs typeface="Arial"/>
              </a:defRPr>
            </a:pPr>
            <a:r>
              <a:rPr sz="1500" b="0">
                <a:solidFill>
                  <a:srgbClr val="183247"/>
                </a:solidFill>
                <a:latin typeface="Arial"/>
                <a:ea typeface="Arial"/>
                <a:cs typeface="Arial"/>
              </a:rPr>
              <a:t>Inventory reservations</a:t>
            </a:r>
          </a:p>
          <a:p>
            <a:pPr algn="l">
              <a:lnSpc>
                <a:spcPct val="100000"/>
              </a:lnSpc>
              <a:buNone/>
              <a:defRPr sz="1500" b="0">
                <a:solidFill>
                  <a:srgbClr val="183247"/>
                </a:solidFill>
                <a:latin typeface="Arial"/>
                <a:ea typeface="Arial"/>
                <a:cs typeface="Arial"/>
              </a:defRPr>
            </a:pPr>
            <a:r>
              <a:rPr sz="1500" b="0">
                <a:solidFill>
                  <a:srgbClr val="183247"/>
                </a:solidFill>
                <a:latin typeface="Arial"/>
                <a:ea typeface="Arial"/>
                <a:cs typeface="Arial"/>
              </a:rPr>
              <a:t>Logs, notifications and audit history</a:t>
            </a:r>
          </a:p>
        </p:txBody>
      </p:sp>
      <p:sp>
        <p:nvSpPr>
          <p:cNvPr id="8" name="Rectangle 7">
            <a:extLst>
              <a:ext uri="{FF2B5EF4-FFF2-40B4-BE49-F238E27FC236}">
                <a16:creationId xmlns:a16="http://schemas.microsoft.com/office/drawing/2014/main" id="{9334B948-0C49-42D1-99F5-627C4C5D5C6B}"/>
              </a:ext>
            </a:extLst>
          </p:cNvPr>
          <p:cNvSpPr>
            <a:spLocks noGrp="1"/>
          </p:cNvSpPr>
          <p:nvPr/>
        </p:nvSpPr>
        <p:spPr>
          <a:xfrm>
            <a:off x="6057900" y="1609725"/>
            <a:ext cx="9525" cy="3238500"/>
          </a:xfrm>
          <a:prstGeom prst="rect">
            <a:avLst/>
          </a:prstGeom>
          <a:solidFill>
            <a:srgbClr val="D8E2E8"/>
          </a:solidFill>
          <a:ln w="0">
            <a:noFill/>
            <a:prstDash val="solid"/>
          </a:ln>
        </p:spPr>
      </p:sp>
      <p:sp>
        <p:nvSpPr>
          <p:cNvPr id="9" name="Rectangle 8">
            <a:extLst>
              <a:ext uri="{FF2B5EF4-FFF2-40B4-BE49-F238E27FC236}">
                <a16:creationId xmlns:a16="http://schemas.microsoft.com/office/drawing/2014/main" id="{B14FAECD-B361-4F3A-8503-4049275A2157}"/>
              </a:ext>
            </a:extLst>
          </p:cNvPr>
          <p:cNvSpPr>
            <a:spLocks noGrp="1"/>
          </p:cNvSpPr>
          <p:nvPr/>
        </p:nvSpPr>
        <p:spPr>
          <a:xfrm>
            <a:off x="6572250" y="1619250"/>
            <a:ext cx="4476750" cy="209550"/>
          </a:xfrm>
          <a:prstGeom prst="rect">
            <a:avLst/>
          </a:prstGeom>
          <a:noFill/>
          <a:ln w="0">
            <a:noFill/>
            <a:prstDash val="solid"/>
          </a:ln>
        </p:spPr>
        <p:txBody>
          <a:bodyPr anchor="ctr">
            <a:normAutofit fontScale="79487"/>
          </a:bodyPr>
          <a:lstStyle/>
          <a:p>
            <a:pPr algn="l">
              <a:lnSpc>
                <a:spcPct val="100000"/>
              </a:lnSpc>
              <a:buNone/>
              <a:defRPr sz="975" b="1">
                <a:solidFill>
                  <a:srgbClr val="E5A23B"/>
                </a:solidFill>
                <a:latin typeface="Arial"/>
                <a:ea typeface="Arial"/>
                <a:cs typeface="Arial"/>
              </a:defRPr>
            </a:pPr>
            <a:r>
              <a:rPr sz="975" b="1">
                <a:solidFill>
                  <a:srgbClr val="E5A23B"/>
                </a:solidFill>
                <a:latin typeface="Arial"/>
                <a:ea typeface="Arial"/>
                <a:cs typeface="Arial"/>
              </a:rPr>
              <a:t>CURRENT PROTOTYPE LIMITS</a:t>
            </a:r>
          </a:p>
        </p:txBody>
      </p:sp>
      <p:sp>
        <p:nvSpPr>
          <p:cNvPr id="10" name="Rectangle 9">
            <a:extLst>
              <a:ext uri="{FF2B5EF4-FFF2-40B4-BE49-F238E27FC236}">
                <a16:creationId xmlns:a16="http://schemas.microsoft.com/office/drawing/2014/main" id="{1D1AE9D2-F5D7-44AF-AC88-9ADFC0B7E0E2}"/>
              </a:ext>
            </a:extLst>
          </p:cNvPr>
          <p:cNvSpPr>
            <a:spLocks noGrp="1"/>
          </p:cNvSpPr>
          <p:nvPr/>
        </p:nvSpPr>
        <p:spPr>
          <a:xfrm>
            <a:off x="6572250" y="1952625"/>
            <a:ext cx="4572000" cy="1762125"/>
          </a:xfrm>
          <a:prstGeom prst="rect">
            <a:avLst/>
          </a:prstGeom>
          <a:noFill/>
          <a:ln w="0">
            <a:noFill/>
            <a:prstDash val="solid"/>
          </a:ln>
        </p:spPr>
        <p:txBody>
          <a:bodyPr anchor="t">
            <a:normAutofit/>
          </a:bodyPr>
          <a:lstStyle/>
          <a:p>
            <a:pPr algn="l">
              <a:lnSpc>
                <a:spcPct val="100000"/>
              </a:lnSpc>
              <a:buNone/>
              <a:defRPr sz="1425" b="0">
                <a:solidFill>
                  <a:srgbClr val="183247"/>
                </a:solidFill>
                <a:latin typeface="Arial"/>
                <a:ea typeface="Arial"/>
                <a:cs typeface="Arial"/>
              </a:defRPr>
            </a:pPr>
            <a:r>
              <a:rPr sz="1425" b="0">
                <a:solidFill>
                  <a:srgbClr val="183247"/>
                </a:solidFill>
                <a:latin typeface="Arial"/>
                <a:ea typeface="Arial"/>
                <a:cs typeface="Arial"/>
              </a:rPr>
              <a:t>Dashboard totals and request rows use sample data.</a:t>
            </a:r>
          </a:p>
          <a:p>
            <a:endParaRPr sz="1425" b="0">
              <a:solidFill>
                <a:srgbClr val="183247"/>
              </a:solidFill>
              <a:latin typeface="Arial"/>
              <a:ea typeface="Arial"/>
              <a:cs typeface="Arial"/>
            </a:endParaRPr>
          </a:p>
          <a:p>
            <a:pPr algn="l">
              <a:lnSpc>
                <a:spcPct val="100000"/>
              </a:lnSpc>
              <a:buNone/>
              <a:defRPr sz="1425" b="0">
                <a:solidFill>
                  <a:srgbClr val="183247"/>
                </a:solidFill>
                <a:latin typeface="Arial"/>
                <a:ea typeface="Arial"/>
                <a:cs typeface="Arial"/>
              </a:defRPr>
            </a:pPr>
            <a:r>
              <a:rPr sz="1425" b="0">
                <a:solidFill>
                  <a:srgbClr val="183247"/>
                </a:solidFill>
                <a:latin typeface="Arial"/>
                <a:ea typeface="Arial"/>
                <a:cs typeface="Arial"/>
              </a:rPr>
              <a:t>The request form shows a confirmation alert instead of calling the API.</a:t>
            </a:r>
          </a:p>
          <a:p>
            <a:endParaRPr sz="1425" b="0">
              <a:solidFill>
                <a:srgbClr val="183247"/>
              </a:solidFill>
              <a:latin typeface="Arial"/>
              <a:ea typeface="Arial"/>
              <a:cs typeface="Arial"/>
            </a:endParaRPr>
          </a:p>
          <a:p>
            <a:pPr algn="l">
              <a:lnSpc>
                <a:spcPct val="100000"/>
              </a:lnSpc>
              <a:buNone/>
              <a:defRPr sz="1425" b="0">
                <a:solidFill>
                  <a:srgbClr val="183247"/>
                </a:solidFill>
                <a:latin typeface="Arial"/>
                <a:ea typeface="Arial"/>
                <a:cs typeface="Arial"/>
              </a:defRPr>
            </a:pPr>
            <a:r>
              <a:rPr sz="1425" b="0">
                <a:solidFill>
                  <a:srgbClr val="183247"/>
                </a:solidFill>
                <a:latin typeface="Arial"/>
                <a:ea typeface="Arial"/>
                <a:cs typeface="Arial"/>
              </a:rPr>
              <a:t>Technician data loads from the backend catalog endpoint when configured.</a:t>
            </a:r>
          </a:p>
        </p:txBody>
      </p:sp>
      <p:sp>
        <p:nvSpPr>
          <p:cNvPr id="11" name="Rectangle 10">
            <a:extLst>
              <a:ext uri="{FF2B5EF4-FFF2-40B4-BE49-F238E27FC236}">
                <a16:creationId xmlns:a16="http://schemas.microsoft.com/office/drawing/2014/main" id="{013619B5-B526-46AD-9BC2-967EA0356CA7}"/>
              </a:ext>
            </a:extLst>
          </p:cNvPr>
          <p:cNvSpPr>
            <a:spLocks noGrp="1"/>
          </p:cNvSpPr>
          <p:nvPr/>
        </p:nvSpPr>
        <p:spPr>
          <a:xfrm>
            <a:off x="742950" y="4991100"/>
            <a:ext cx="10382250" cy="19050"/>
          </a:xfrm>
          <a:prstGeom prst="rect">
            <a:avLst/>
          </a:prstGeom>
          <a:solidFill>
            <a:srgbClr val="D8E2E8"/>
          </a:solidFill>
          <a:ln w="0">
            <a:noFill/>
            <a:prstDash val="solid"/>
          </a:ln>
        </p:spPr>
      </p:sp>
      <p:sp>
        <p:nvSpPr>
          <p:cNvPr id="12" name="Rectangle 11">
            <a:extLst>
              <a:ext uri="{FF2B5EF4-FFF2-40B4-BE49-F238E27FC236}">
                <a16:creationId xmlns:a16="http://schemas.microsoft.com/office/drawing/2014/main" id="{74A7A503-2C04-444C-A5C7-34DCFA7CC659}"/>
              </a:ext>
            </a:extLst>
          </p:cNvPr>
          <p:cNvSpPr>
            <a:spLocks noGrp="1"/>
          </p:cNvSpPr>
          <p:nvPr/>
        </p:nvSpPr>
        <p:spPr>
          <a:xfrm>
            <a:off x="742950" y="5257800"/>
            <a:ext cx="10382250" cy="571500"/>
          </a:xfrm>
          <a:prstGeom prst="rect">
            <a:avLst/>
          </a:prstGeom>
          <a:noFill/>
          <a:ln w="0">
            <a:noFill/>
            <a:prstDash val="solid"/>
          </a:ln>
        </p:spPr>
        <p:txBody>
          <a:bodyPr anchor="t">
            <a:normAutofit/>
          </a:bodyPr>
          <a:lstStyle/>
          <a:p>
            <a:pPr algn="l">
              <a:lnSpc>
                <a:spcPct val="100000"/>
              </a:lnSpc>
              <a:buNone/>
              <a:defRPr sz="1500" b="1">
                <a:solidFill>
                  <a:srgbClr val="087F78"/>
                </a:solidFill>
                <a:latin typeface="Arial"/>
                <a:ea typeface="Arial"/>
                <a:cs typeface="Arial"/>
              </a:defRPr>
            </a:pPr>
            <a:r>
              <a:rPr sz="1500" b="1">
                <a:solidFill>
                  <a:srgbClr val="087F78"/>
                </a:solidFill>
                <a:latin typeface="Arial"/>
                <a:ea typeface="Arial"/>
                <a:cs typeface="Arial"/>
              </a:rPr>
              <a:t>Next: connect request and dashboard views to live API data, then extend the platform with mobile field access and real-time operational signals.</a:t>
            </a:r>
          </a:p>
        </p:txBody>
      </p:sp>
    </p:spTree>
    <p:extLst>
      <p:ext uri="{BB962C8B-B14F-4D97-AF65-F5344CB8AC3E}">
        <p14:creationId xmlns:p14="http://schemas.microsoft.com/office/powerpoint/2010/main" val="53047232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1248</Words>
  <Application>Microsoft Office PowerPoint</Application>
  <DocSecurity>0</DocSecurity>
  <PresentationFormat>Widescreen</PresentationFormat>
  <Paragraphs>132</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Mayukha Siva</cp:lastModifiedBy>
  <cp:revision>1</cp:revision>
  <dcterms:created xsi:type="dcterms:W3CDTF">2026-10-08T05:16:22Z</dcterms:created>
  <dcterms:modified xsi:type="dcterms:W3CDTF">2026-10-08T05:21:53Z</dcterms:modified>
</cp:coreProperties>
</file>